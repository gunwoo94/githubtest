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9" r:id="rId4"/>
    <p:sldId id="262" r:id="rId5"/>
    <p:sldId id="267" r:id="rId6"/>
    <p:sldId id="263" r:id="rId7"/>
    <p:sldId id="264" r:id="rId8"/>
    <p:sldId id="268" r:id="rId9"/>
    <p:sldId id="265" r:id="rId10"/>
    <p:sldId id="266" r:id="rId11"/>
  </p:sldIdLst>
  <p:sldSz cx="9144000" cy="5143500" type="screen16x9"/>
  <p:notesSz cx="6858000" cy="9144000"/>
  <p:embeddedFontLst>
    <p:embeddedFont>
      <p:font typeface="Malgun Gothic" panose="020B0503020000020004" pitchFamily="50" charset="-127"/>
      <p:regular r:id="rId13"/>
      <p:bold r:id="rId14"/>
    </p:embeddedFont>
    <p:embeddedFont>
      <p:font typeface="Roboto" panose="020B0600000101010101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4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fea78f1c6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1fea78f1c6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1e8edec9a0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1e8edec9a0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c7dc8349c5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c7dc8349c5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c7dc8349c5_0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c7dc8349c5_0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634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c7dc8349c5_0_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c7dc8349c5_0_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c7dc8349c5_0_1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c7dc8349c5_0_1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c7dc8349c5_0_1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c7dc8349c5_0_1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8740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85af5ea4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85af5ea4b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c7dc8349c5_0_1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c7dc8349c5_0_1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55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프로세스 설계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LGE Global chabot</a:t>
            </a:r>
            <a:endParaRPr sz="153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3268425" y="541025"/>
            <a:ext cx="3751800" cy="4424700"/>
          </a:xfrm>
          <a:prstGeom prst="roundRect">
            <a:avLst>
              <a:gd name="adj" fmla="val 399"/>
            </a:avLst>
          </a:prstGeom>
          <a:solidFill>
            <a:srgbClr val="F6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700" y="619975"/>
            <a:ext cx="978679" cy="31999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3370700" y="1055863"/>
            <a:ext cx="1568700" cy="1616400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7674075" y="1055870"/>
            <a:ext cx="646676" cy="2022242"/>
          </a:xfrm>
          <a:prstGeom prst="roundRect">
            <a:avLst>
              <a:gd name="adj" fmla="val 827"/>
            </a:avLst>
          </a:prstGeom>
          <a:solidFill>
            <a:srgbClr val="EFEB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405663" y="3357863"/>
            <a:ext cx="1391400" cy="1490400"/>
          </a:xfrm>
          <a:prstGeom prst="roundRect">
            <a:avLst>
              <a:gd name="adj" fmla="val 827"/>
            </a:avLst>
          </a:prstGeom>
          <a:solidFill>
            <a:srgbClr val="F3E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>
              <a:solidFill>
                <a:srgbClr val="9E9E9E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405670" y="3393909"/>
            <a:ext cx="6822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ETL</a:t>
            </a:r>
            <a:endParaRPr sz="600" b="0" i="0" u="none" strike="noStrike" cap="non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400600" y="1172563"/>
            <a:ext cx="1391400" cy="2068800"/>
          </a:xfrm>
          <a:prstGeom prst="roundRect">
            <a:avLst>
              <a:gd name="adj" fmla="val 827"/>
            </a:avLst>
          </a:prstGeom>
          <a:solidFill>
            <a:srgbClr val="E3F2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400607" y="1172563"/>
            <a:ext cx="682200" cy="2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Sub Infra</a:t>
            </a:r>
            <a:endParaRPr sz="600" b="0" i="0" u="none" strike="noStrike" cap="non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49454" y="1055863"/>
            <a:ext cx="1161900" cy="1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 b="0" i="0" u="none" strike="noStrike" cap="non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5492522" y="4356825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Data Warehouse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BigQuery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0512" y="4435212"/>
            <a:ext cx="242325" cy="2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/>
          <p:nvPr/>
        </p:nvSpPr>
        <p:spPr>
          <a:xfrm>
            <a:off x="5492514" y="2144575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File Storage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Storage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2712" y="2248474"/>
            <a:ext cx="216500" cy="1744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" name="Google Shape;73;p14"/>
          <p:cNvGrpSpPr/>
          <p:nvPr/>
        </p:nvGrpSpPr>
        <p:grpSpPr>
          <a:xfrm>
            <a:off x="2414540" y="1985796"/>
            <a:ext cx="429894" cy="596676"/>
            <a:chOff x="-3231110" y="3215745"/>
            <a:chExt cx="502800" cy="731400"/>
          </a:xfrm>
        </p:grpSpPr>
        <p:sp>
          <p:nvSpPr>
            <p:cNvPr id="74" name="Google Shape;74;p14"/>
            <p:cNvSpPr/>
            <p:nvPr/>
          </p:nvSpPr>
          <p:spPr>
            <a:xfrm>
              <a:off x="-3231110" y="3215745"/>
              <a:ext cx="502800" cy="7314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Relay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5" name="Google Shape;75;p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-3144369" y="3305865"/>
              <a:ext cx="329400" cy="32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4"/>
          <p:cNvSpPr/>
          <p:nvPr/>
        </p:nvSpPr>
        <p:spPr>
          <a:xfrm>
            <a:off x="3511446" y="4355181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Dashboard Chart</a:t>
            </a:r>
            <a:br>
              <a:rPr lang="ko"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 Studio</a:t>
            </a:r>
            <a:endParaRPr/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8736" y="4446000"/>
            <a:ext cx="234078" cy="22073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1720150" y="2022062"/>
            <a:ext cx="448200" cy="5241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66227" y="2157225"/>
            <a:ext cx="337800" cy="25378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789350" y="968013"/>
            <a:ext cx="684600" cy="1744500"/>
          </a:xfrm>
          <a:prstGeom prst="roundRect">
            <a:avLst>
              <a:gd name="adj" fmla="val 827"/>
            </a:avLst>
          </a:prstGeom>
          <a:solidFill>
            <a:srgbClr val="F3E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823249" y="968013"/>
            <a:ext cx="6168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6400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Clients</a:t>
            </a:r>
            <a:endParaRPr sz="600" b="0" i="0" u="none" strike="noStrike" cap="non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2" name="Google Shape;82;p14"/>
          <p:cNvGrpSpPr/>
          <p:nvPr/>
        </p:nvGrpSpPr>
        <p:grpSpPr>
          <a:xfrm>
            <a:off x="887106" y="1971213"/>
            <a:ext cx="502794" cy="628200"/>
            <a:chOff x="6052000" y="1261450"/>
            <a:chExt cx="466500" cy="628200"/>
          </a:xfrm>
        </p:grpSpPr>
        <p:sp>
          <p:nvSpPr>
            <p:cNvPr id="83" name="Google Shape;83;p14"/>
            <p:cNvSpPr/>
            <p:nvPr/>
          </p:nvSpPr>
          <p:spPr>
            <a:xfrm>
              <a:off x="6052000" y="1261450"/>
              <a:ext cx="466500" cy="628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Whatsapp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4" name="Google Shape;84;p1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139546" y="1342175"/>
              <a:ext cx="281698" cy="28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5" name="Google Shape;85;p14"/>
          <p:cNvSpPr/>
          <p:nvPr/>
        </p:nvSpPr>
        <p:spPr>
          <a:xfrm>
            <a:off x="880250" y="1244962"/>
            <a:ext cx="502800" cy="628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WebUI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6951" y="1312887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887108" y="4182232"/>
            <a:ext cx="502800" cy="731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Admin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3553588" y="2159515"/>
            <a:ext cx="1198624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Admin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7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13165" y="2244453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3539816" y="1672598"/>
            <a:ext cx="1206934" cy="445924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Fulfillment</a:t>
            </a:r>
            <a:r>
              <a:rPr lang="en-US" alt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Server</a:t>
            </a:r>
            <a:br>
              <a:rPr lang="ko" sz="700" b="0" i="0" u="none" strike="noStrike" cap="none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700" b="0" i="0" u="none" strike="noStrike" cap="none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Multiple</a:t>
            </a:r>
            <a:endParaRPr sz="7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10787" y="1789935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3539838" y="1263463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700" b="0" i="0" u="none" strike="noStrike" cap="none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Multiple</a:t>
            </a:r>
            <a:endParaRPr sz="7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04303" y="1337347"/>
            <a:ext cx="238725" cy="19230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887108" y="3187719"/>
            <a:ext cx="502800" cy="731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800">
                <a:solidFill>
                  <a:schemeClr val="dk1"/>
                </a:solidFill>
              </a:rPr>
              <a:t>CS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800">
                <a:solidFill>
                  <a:schemeClr val="dk1"/>
                </a:solidFill>
              </a:rPr>
              <a:t>Manager</a:t>
            </a:r>
            <a:endParaRPr sz="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8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3800" y="3237487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492515" y="176235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DB (MySQL)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85788" y="1832288"/>
            <a:ext cx="178350" cy="2423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5492525" y="1380138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585275" y="1453650"/>
            <a:ext cx="235125" cy="23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5492512" y="3980175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ETL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Dataflow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592950" y="4047364"/>
            <a:ext cx="178350" cy="242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5492513" y="3597988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Streaming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Pub/Sub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557940" y="3662587"/>
            <a:ext cx="269237" cy="25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5485926" y="2751213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Logger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Logging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562113" y="2828384"/>
            <a:ext cx="229475" cy="22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3800" y="4259312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40375" y="1055863"/>
            <a:ext cx="6504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Font typeface="Roboto"/>
              <a:buNone/>
            </a:pPr>
            <a:r>
              <a:rPr lang="ko" sz="75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LGE Legacy</a:t>
            </a:r>
            <a:endParaRPr sz="750" b="0" i="0" u="none" strike="noStrike" cap="none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782425" y="1336988"/>
            <a:ext cx="389400" cy="6519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GSFS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2437" y="1397752"/>
            <a:ext cx="329400" cy="32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" name="Google Shape;110;p14"/>
          <p:cNvGrpSpPr/>
          <p:nvPr/>
        </p:nvGrpSpPr>
        <p:grpSpPr>
          <a:xfrm>
            <a:off x="3370700" y="2725303"/>
            <a:ext cx="1568700" cy="1007405"/>
            <a:chOff x="3574600" y="2536022"/>
            <a:chExt cx="1568700" cy="1053000"/>
          </a:xfrm>
        </p:grpSpPr>
        <p:sp>
          <p:nvSpPr>
            <p:cNvPr id="111" name="Google Shape;111;p14"/>
            <p:cNvSpPr/>
            <p:nvPr/>
          </p:nvSpPr>
          <p:spPr>
            <a:xfrm>
              <a:off x="3574600" y="2536022"/>
              <a:ext cx="1568700" cy="1053000"/>
            </a:xfrm>
            <a:prstGeom prst="roundRect">
              <a:avLst>
                <a:gd name="adj" fmla="val 827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endParaRPr sz="14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3809437" y="2957075"/>
              <a:ext cx="1217700" cy="382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5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Chatbot Agent</a:t>
              </a:r>
              <a:br>
                <a:rPr lang="ko" sz="700" b="0" i="0" u="none" strike="noStrike" cap="non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ko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DialogFlow</a:t>
              </a: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3686813" y="2839150"/>
              <a:ext cx="1269300" cy="4377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429750" tIns="73150" rIns="45700" bIns="73150" anchor="ctr" anchorCtr="0">
              <a:noAutofit/>
            </a:bodyPr>
            <a:lstStyle/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5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Chatbot Agent</a:t>
              </a:r>
              <a:endParaRPr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DialogFlow ES</a:t>
              </a:r>
              <a:endParaRPr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lnSpc>
                  <a:spcPct val="113333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Font typeface="Roboto"/>
                <a:buNone/>
              </a:pPr>
              <a:r>
                <a:rPr lang="ko" sz="700" b="1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Multiple</a:t>
              </a:r>
              <a:endParaRPr sz="700" b="1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14" name="Google Shape;114;p14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3722514" y="2904799"/>
              <a:ext cx="266779" cy="32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4"/>
            <p:cNvSpPr txBox="1"/>
            <p:nvPr/>
          </p:nvSpPr>
          <p:spPr>
            <a:xfrm>
              <a:off x="3574679" y="2564176"/>
              <a:ext cx="1161900" cy="17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6400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9E9E9E"/>
                </a:buClr>
                <a:buFont typeface="Roboto"/>
                <a:buNone/>
              </a:pPr>
              <a:r>
                <a:rPr lang="ko" sz="75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Dialogflow Agent</a:t>
              </a:r>
              <a:endParaRPr sz="600" b="0" i="0" u="none" strike="noStrike" cap="none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16" name="Google Shape;116;p14"/>
          <p:cNvCxnSpPr>
            <a:stCxn id="92" idx="1"/>
          </p:cNvCxnSpPr>
          <p:nvPr/>
        </p:nvCxnSpPr>
        <p:spPr>
          <a:xfrm flipH="1">
            <a:off x="1363638" y="1454563"/>
            <a:ext cx="21762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17" name="Google Shape;117;p14"/>
          <p:cNvCxnSpPr>
            <a:stCxn id="78" idx="1"/>
            <a:endCxn id="83" idx="3"/>
          </p:cNvCxnSpPr>
          <p:nvPr/>
        </p:nvCxnSpPr>
        <p:spPr>
          <a:xfrm flipH="1">
            <a:off x="1389850" y="2284112"/>
            <a:ext cx="330300" cy="1200"/>
          </a:xfrm>
          <a:prstGeom prst="bentConnector3">
            <a:avLst>
              <a:gd name="adj1" fmla="val 4999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18" name="Google Shape;118;p14"/>
          <p:cNvCxnSpPr>
            <a:stCxn id="74" idx="1"/>
            <a:endCxn id="78" idx="3"/>
          </p:cNvCxnSpPr>
          <p:nvPr/>
        </p:nvCxnSpPr>
        <p:spPr>
          <a:xfrm flipH="1">
            <a:off x="2168240" y="2284134"/>
            <a:ext cx="246300" cy="600"/>
          </a:xfrm>
          <a:prstGeom prst="bentConnector3">
            <a:avLst>
              <a:gd name="adj1" fmla="val 49978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19" name="Google Shape;119;p14"/>
          <p:cNvCxnSpPr>
            <a:stCxn id="92" idx="1"/>
            <a:endCxn id="74" idx="3"/>
          </p:cNvCxnSpPr>
          <p:nvPr/>
        </p:nvCxnSpPr>
        <p:spPr>
          <a:xfrm flipH="1">
            <a:off x="2844438" y="1454563"/>
            <a:ext cx="695400" cy="829500"/>
          </a:xfrm>
          <a:prstGeom prst="bentConnector3">
            <a:avLst>
              <a:gd name="adj1" fmla="val 74204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20" name="Google Shape;120;p14"/>
          <p:cNvCxnSpPr>
            <a:stCxn id="113" idx="3"/>
            <a:endCxn id="92" idx="3"/>
          </p:cNvCxnSpPr>
          <p:nvPr/>
        </p:nvCxnSpPr>
        <p:spPr>
          <a:xfrm rot="10800000" flipH="1">
            <a:off x="4752213" y="1454679"/>
            <a:ext cx="5400" cy="1770000"/>
          </a:xfrm>
          <a:prstGeom prst="bentConnector3">
            <a:avLst>
              <a:gd name="adj1" fmla="val 6147453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21" name="Google Shape;121;p14"/>
          <p:cNvCxnSpPr>
            <a:stCxn id="78" idx="2"/>
            <a:endCxn id="94" idx="3"/>
          </p:cNvCxnSpPr>
          <p:nvPr/>
        </p:nvCxnSpPr>
        <p:spPr>
          <a:xfrm rot="5400000">
            <a:off x="1163350" y="2772662"/>
            <a:ext cx="1007400" cy="554400"/>
          </a:xfrm>
          <a:prstGeom prst="bentConnector2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22" name="Google Shape;122;p14"/>
          <p:cNvCxnSpPr>
            <a:cxnSpLocks/>
            <a:stCxn id="88" idx="1"/>
            <a:endCxn id="87" idx="3"/>
          </p:cNvCxnSpPr>
          <p:nvPr/>
        </p:nvCxnSpPr>
        <p:spPr>
          <a:xfrm rot="10800000" flipV="1">
            <a:off x="1389908" y="2350614"/>
            <a:ext cx="2163680" cy="2197317"/>
          </a:xfrm>
          <a:prstGeom prst="bentConnector3">
            <a:avLst>
              <a:gd name="adj1" fmla="val 31431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23" name="Google Shape;123;p14"/>
          <p:cNvCxnSpPr>
            <a:stCxn id="113" idx="1"/>
            <a:endCxn id="87" idx="3"/>
          </p:cNvCxnSpPr>
          <p:nvPr/>
        </p:nvCxnSpPr>
        <p:spPr>
          <a:xfrm flipH="1">
            <a:off x="1389813" y="3224679"/>
            <a:ext cx="2093100" cy="1323300"/>
          </a:xfrm>
          <a:prstGeom prst="bentConnector3">
            <a:avLst>
              <a:gd name="adj1" fmla="val 19663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24" name="Google Shape;124;p14"/>
          <p:cNvCxnSpPr>
            <a:stCxn id="104" idx="2"/>
            <a:endCxn id="102" idx="0"/>
          </p:cNvCxnSpPr>
          <p:nvPr/>
        </p:nvCxnSpPr>
        <p:spPr>
          <a:xfrm rot="-5400000" flipH="1">
            <a:off x="5865726" y="3362463"/>
            <a:ext cx="464700" cy="6600"/>
          </a:xfrm>
          <a:prstGeom prst="bentConnector3">
            <a:avLst>
              <a:gd name="adj1" fmla="val 49987"/>
            </a:avLst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cxnSp>
        <p:nvCxnSpPr>
          <p:cNvPr id="125" name="Google Shape;125;p14"/>
          <p:cNvCxnSpPr>
            <a:stCxn id="76" idx="3"/>
            <a:endCxn id="69" idx="1"/>
          </p:cNvCxnSpPr>
          <p:nvPr/>
        </p:nvCxnSpPr>
        <p:spPr>
          <a:xfrm>
            <a:off x="4729146" y="4546281"/>
            <a:ext cx="763376" cy="1644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cxnSp>
        <p:nvCxnSpPr>
          <p:cNvPr id="127" name="Google Shape;127;p14"/>
          <p:cNvCxnSpPr>
            <a:cxnSpLocks/>
            <a:stCxn id="133" idx="1"/>
            <a:endCxn id="92" idx="3"/>
          </p:cNvCxnSpPr>
          <p:nvPr/>
        </p:nvCxnSpPr>
        <p:spPr>
          <a:xfrm rot="10800000" flipV="1">
            <a:off x="4757539" y="854695"/>
            <a:ext cx="1122287" cy="599867"/>
          </a:xfrm>
          <a:prstGeom prst="bentConnector3">
            <a:avLst>
              <a:gd name="adj1" fmla="val 91356"/>
            </a:avLst>
          </a:prstGeom>
          <a:noFill/>
          <a:ln w="9525" cap="flat" cmpd="sng">
            <a:solidFill>
              <a:srgbClr val="3A7DF0"/>
            </a:solidFill>
            <a:prstDash val="dash"/>
            <a:round/>
            <a:headEnd type="triangle" w="sm" len="sm"/>
            <a:tailEnd type="none" w="sm" len="sm"/>
          </a:ln>
        </p:spPr>
      </p:cxnSp>
      <p:cxnSp>
        <p:nvCxnSpPr>
          <p:cNvPr id="129" name="Google Shape;129;p14"/>
          <p:cNvCxnSpPr>
            <a:cxnSpLocks/>
            <a:stCxn id="63" idx="1"/>
            <a:endCxn id="133" idx="3"/>
          </p:cNvCxnSpPr>
          <p:nvPr/>
        </p:nvCxnSpPr>
        <p:spPr>
          <a:xfrm rot="10800000">
            <a:off x="6309719" y="854697"/>
            <a:ext cx="1364356" cy="1212295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7DF0"/>
            </a:solidFill>
            <a:prstDash val="dash"/>
            <a:round/>
            <a:headEnd type="triangle" w="sm" len="sm"/>
            <a:tailEnd type="none" w="sm" len="sm"/>
          </a:ln>
        </p:spPr>
      </p:cxnSp>
      <p:cxnSp>
        <p:nvCxnSpPr>
          <p:cNvPr id="130" name="Google Shape;130;p14"/>
          <p:cNvCxnSpPr>
            <a:cxnSpLocks/>
            <a:stCxn id="90" idx="3"/>
            <a:endCxn id="112" idx="3"/>
          </p:cNvCxnSpPr>
          <p:nvPr/>
        </p:nvCxnSpPr>
        <p:spPr>
          <a:xfrm>
            <a:off x="4746750" y="1895560"/>
            <a:ext cx="76487" cy="1415390"/>
          </a:xfrm>
          <a:prstGeom prst="bentConnector3">
            <a:avLst>
              <a:gd name="adj1" fmla="val 39887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sm" len="sm"/>
            <a:tailEnd type="none" w="sm" len="sm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4870140" y="2092150"/>
            <a:ext cx="5772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3A7DF0"/>
            </a:solidFill>
            <a:prstDash val="solid"/>
            <a:round/>
            <a:headEnd type="triangle" w="sm" len="sm"/>
            <a:tailEnd type="triangle" w="sm" len="sm"/>
          </a:ln>
        </p:spPr>
      </p:cxnSp>
      <p:grpSp>
        <p:nvGrpSpPr>
          <p:cNvPr id="132" name="Google Shape;132;p14"/>
          <p:cNvGrpSpPr/>
          <p:nvPr/>
        </p:nvGrpSpPr>
        <p:grpSpPr>
          <a:xfrm>
            <a:off x="5879825" y="592702"/>
            <a:ext cx="429894" cy="523988"/>
            <a:chOff x="-3231113" y="3304698"/>
            <a:chExt cx="502800" cy="642300"/>
          </a:xfrm>
        </p:grpSpPr>
        <p:sp>
          <p:nvSpPr>
            <p:cNvPr id="133" name="Google Shape;133;p14"/>
            <p:cNvSpPr/>
            <p:nvPr/>
          </p:nvSpPr>
          <p:spPr>
            <a:xfrm>
              <a:off x="-3231113" y="3304698"/>
              <a:ext cx="502800" cy="6423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GateWay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34" name="Google Shape;134;p1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-3144369" y="3399271"/>
              <a:ext cx="329400" cy="32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7660" algn="l" rtl="0">
              <a:spcBef>
                <a:spcPts val="0"/>
              </a:spcBef>
              <a:spcAft>
                <a:spcPts val="0"/>
              </a:spcAft>
              <a:buSzPts val="1560"/>
              <a:buFont typeface="Malgun Gothic"/>
              <a:buAutoNum type="arabicPeriod"/>
            </a:pPr>
            <a:r>
              <a:rPr lang="ko" sz="1560" b="1" dirty="0">
                <a:latin typeface="Malgun Gothic"/>
                <a:ea typeface="Malgun Gothic"/>
                <a:cs typeface="Malgun Gothic"/>
                <a:sym typeface="Malgun Gothic"/>
              </a:rPr>
              <a:t>LGE Global chatbot Architecture</a:t>
            </a:r>
            <a:endParaRPr sz="1920" dirty="0"/>
          </a:p>
        </p:txBody>
      </p:sp>
      <p:sp>
        <p:nvSpPr>
          <p:cNvPr id="139" name="Google Shape;449;p19">
            <a:extLst>
              <a:ext uri="{FF2B5EF4-FFF2-40B4-BE49-F238E27FC236}">
                <a16:creationId xmlns:a16="http://schemas.microsoft.com/office/drawing/2014/main" id="{7B746819-028A-4F56-B45B-6EA727F67FE6}"/>
              </a:ext>
            </a:extLst>
          </p:cNvPr>
          <p:cNvSpPr/>
          <p:nvPr/>
        </p:nvSpPr>
        <p:spPr>
          <a:xfrm>
            <a:off x="3520763" y="368490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alt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GPT API</a:t>
            </a:r>
            <a:br>
              <a:rPr lang="ko" sz="7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altLang="ko" sz="7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Orchestration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5F9F8C4B-56A2-4651-AC6B-D80D16EE058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53826" y="3744550"/>
            <a:ext cx="298167" cy="273320"/>
          </a:xfrm>
          <a:prstGeom prst="rect">
            <a:avLst/>
          </a:prstGeom>
        </p:spPr>
      </p:pic>
      <p:cxnSp>
        <p:nvCxnSpPr>
          <p:cNvPr id="141" name="Google Shape;120;p14">
            <a:extLst>
              <a:ext uri="{FF2B5EF4-FFF2-40B4-BE49-F238E27FC236}">
                <a16:creationId xmlns:a16="http://schemas.microsoft.com/office/drawing/2014/main" id="{539D5521-FAE0-4028-AE40-10CCFF99B9EF}"/>
              </a:ext>
            </a:extLst>
          </p:cNvPr>
          <p:cNvCxnSpPr>
            <a:cxnSpLocks/>
            <a:stCxn id="139" idx="3"/>
            <a:endCxn id="92" idx="3"/>
          </p:cNvCxnSpPr>
          <p:nvPr/>
        </p:nvCxnSpPr>
        <p:spPr>
          <a:xfrm flipV="1">
            <a:off x="4738463" y="1454563"/>
            <a:ext cx="19075" cy="2421437"/>
          </a:xfrm>
          <a:prstGeom prst="bentConnector3">
            <a:avLst>
              <a:gd name="adj1" fmla="val 180685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none" w="sm" len="sm"/>
          </a:ln>
        </p:spPr>
      </p:cxnSp>
      <p:sp>
        <p:nvSpPr>
          <p:cNvPr id="136" name="Google Shape;108;p14">
            <a:extLst>
              <a:ext uri="{FF2B5EF4-FFF2-40B4-BE49-F238E27FC236}">
                <a16:creationId xmlns:a16="http://schemas.microsoft.com/office/drawing/2014/main" id="{1702F1D4-C4A1-43A2-9659-5619CE695C3A}"/>
              </a:ext>
            </a:extLst>
          </p:cNvPr>
          <p:cNvSpPr/>
          <p:nvPr/>
        </p:nvSpPr>
        <p:spPr>
          <a:xfrm>
            <a:off x="7782425" y="2157225"/>
            <a:ext cx="389400" cy="6519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sz="70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Lg.com</a:t>
            </a:r>
            <a:endParaRPr sz="700" dirty="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09;p14">
            <a:extLst>
              <a:ext uri="{FF2B5EF4-FFF2-40B4-BE49-F238E27FC236}">
                <a16:creationId xmlns:a16="http://schemas.microsoft.com/office/drawing/2014/main" id="{EBCF357E-5E01-4515-8873-A3735FBAD5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12437" y="2217989"/>
            <a:ext cx="329400" cy="32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B11E7B7-9EFC-473C-8761-A96AD0ADDD32}"/>
              </a:ext>
            </a:extLst>
          </p:cNvPr>
          <p:cNvCxnSpPr>
            <a:stCxn id="87" idx="3"/>
            <a:endCxn id="76" idx="1"/>
          </p:cNvCxnSpPr>
          <p:nvPr/>
        </p:nvCxnSpPr>
        <p:spPr>
          <a:xfrm flipV="1">
            <a:off x="1389908" y="4546281"/>
            <a:ext cx="2121538" cy="1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16"/>
          <p:cNvCxnSpPr/>
          <p:nvPr/>
        </p:nvCxnSpPr>
        <p:spPr>
          <a:xfrm rot="-5400000" flipH="1">
            <a:off x="4732013" y="1404988"/>
            <a:ext cx="191100" cy="609000"/>
          </a:xfrm>
          <a:prstGeom prst="bentConnector4">
            <a:avLst>
              <a:gd name="adj1" fmla="val -56122"/>
              <a:gd name="adj2" fmla="val 12298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30" name="Google Shape;230;p16"/>
          <p:cNvCxnSpPr/>
          <p:nvPr/>
        </p:nvCxnSpPr>
        <p:spPr>
          <a:xfrm flipH="1">
            <a:off x="4523000" y="2058150"/>
            <a:ext cx="609000" cy="191100"/>
          </a:xfrm>
          <a:prstGeom prst="bentConnector4">
            <a:avLst>
              <a:gd name="adj1" fmla="val -23013"/>
              <a:gd name="adj2" fmla="val 17178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31" name="Google Shape;231;p16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60" b="1">
                <a:latin typeface="Malgun Gothic"/>
                <a:ea typeface="Malgun Gothic"/>
                <a:cs typeface="Malgun Gothic"/>
                <a:sym typeface="Malgun Gothic"/>
              </a:rPr>
              <a:t>2.1. Hello_intent (최초 진입시) 프로세스 (Web UI)</a:t>
            </a:r>
            <a:endParaRPr sz="2020"/>
          </a:p>
        </p:txBody>
      </p:sp>
      <p:sp>
        <p:nvSpPr>
          <p:cNvPr id="232" name="Google Shape;232;p16"/>
          <p:cNvSpPr/>
          <p:nvPr/>
        </p:nvSpPr>
        <p:spPr>
          <a:xfrm>
            <a:off x="2168613" y="1516426"/>
            <a:ext cx="502800" cy="731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WebUI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3" name="Google Shape;23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55326" y="1651049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/>
          <p:nvPr/>
        </p:nvSpPr>
        <p:spPr>
          <a:xfrm>
            <a:off x="3748075" y="171860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2541" y="1792485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16"/>
          <p:cNvCxnSpPr/>
          <p:nvPr/>
        </p:nvCxnSpPr>
        <p:spPr>
          <a:xfrm flipH="1">
            <a:off x="4016475" y="2182275"/>
            <a:ext cx="85200" cy="418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39" name="Google Shape;239;p16"/>
          <p:cNvSpPr/>
          <p:nvPr/>
        </p:nvSpPr>
        <p:spPr>
          <a:xfrm>
            <a:off x="3168700" y="2670413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0" name="Google Shape;24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1450" y="2743925"/>
            <a:ext cx="235125" cy="2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" name="Google Shape;241;p16"/>
          <p:cNvCxnSpPr/>
          <p:nvPr/>
        </p:nvCxnSpPr>
        <p:spPr>
          <a:xfrm>
            <a:off x="2773575" y="1651488"/>
            <a:ext cx="723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242" name="Google Shape;242;p16"/>
          <p:cNvGrpSpPr/>
          <p:nvPr/>
        </p:nvGrpSpPr>
        <p:grpSpPr>
          <a:xfrm>
            <a:off x="2966170" y="1602335"/>
            <a:ext cx="255300" cy="97427"/>
            <a:chOff x="1169632" y="4149135"/>
            <a:chExt cx="255300" cy="97427"/>
          </a:xfrm>
        </p:grpSpPr>
        <p:sp>
          <p:nvSpPr>
            <p:cNvPr id="243" name="Google Shape;243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 b="0" i="0" u="none" strike="noStrike" cap="none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45" name="Google Shape;245;p16"/>
          <p:cNvCxnSpPr/>
          <p:nvPr/>
        </p:nvCxnSpPr>
        <p:spPr>
          <a:xfrm rot="10800000">
            <a:off x="2770600" y="1767900"/>
            <a:ext cx="7077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246" name="Google Shape;246;p16"/>
          <p:cNvGrpSpPr/>
          <p:nvPr/>
        </p:nvGrpSpPr>
        <p:grpSpPr>
          <a:xfrm>
            <a:off x="2966170" y="1719185"/>
            <a:ext cx="255300" cy="97427"/>
            <a:chOff x="1169632" y="4149135"/>
            <a:chExt cx="255300" cy="97427"/>
          </a:xfrm>
        </p:grpSpPr>
        <p:sp>
          <p:nvSpPr>
            <p:cNvPr id="247" name="Google Shape;247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49" name="Google Shape;249;p16"/>
          <p:cNvCxnSpPr/>
          <p:nvPr/>
        </p:nvCxnSpPr>
        <p:spPr>
          <a:xfrm>
            <a:off x="2772863" y="2102763"/>
            <a:ext cx="675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250" name="Google Shape;250;p16"/>
          <p:cNvGrpSpPr/>
          <p:nvPr/>
        </p:nvGrpSpPr>
        <p:grpSpPr>
          <a:xfrm>
            <a:off x="2965457" y="2053610"/>
            <a:ext cx="255300" cy="97427"/>
            <a:chOff x="1169632" y="4149135"/>
            <a:chExt cx="255300" cy="97427"/>
          </a:xfrm>
        </p:grpSpPr>
        <p:sp>
          <p:nvSpPr>
            <p:cNvPr id="251" name="Google Shape;251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53" name="Google Shape;253;p16"/>
          <p:cNvCxnSpPr/>
          <p:nvPr/>
        </p:nvCxnSpPr>
        <p:spPr>
          <a:xfrm rot="10800000">
            <a:off x="2769950" y="2219175"/>
            <a:ext cx="6840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cxnSp>
        <p:nvCxnSpPr>
          <p:cNvPr id="254" name="Google Shape;254;p16"/>
          <p:cNvCxnSpPr/>
          <p:nvPr/>
        </p:nvCxnSpPr>
        <p:spPr>
          <a:xfrm>
            <a:off x="5067925" y="187361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255" name="Google Shape;255;p16"/>
          <p:cNvGrpSpPr/>
          <p:nvPr/>
        </p:nvGrpSpPr>
        <p:grpSpPr>
          <a:xfrm>
            <a:off x="5260520" y="1824460"/>
            <a:ext cx="255300" cy="97427"/>
            <a:chOff x="1169632" y="4149135"/>
            <a:chExt cx="255300" cy="97427"/>
          </a:xfrm>
        </p:grpSpPr>
        <p:sp>
          <p:nvSpPr>
            <p:cNvPr id="256" name="Google Shape;256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58" name="Google Shape;258;p16"/>
          <p:cNvCxnSpPr/>
          <p:nvPr/>
        </p:nvCxnSpPr>
        <p:spPr>
          <a:xfrm rot="10800000">
            <a:off x="5065075" y="199002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259" name="Google Shape;259;p16"/>
          <p:cNvGrpSpPr/>
          <p:nvPr/>
        </p:nvGrpSpPr>
        <p:grpSpPr>
          <a:xfrm>
            <a:off x="3940432" y="2315623"/>
            <a:ext cx="255300" cy="97427"/>
            <a:chOff x="1169632" y="4149135"/>
            <a:chExt cx="255300" cy="97427"/>
          </a:xfrm>
        </p:grpSpPr>
        <p:sp>
          <p:nvSpPr>
            <p:cNvPr id="260" name="Google Shape;260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2" name="Google Shape;262;p16"/>
          <p:cNvSpPr/>
          <p:nvPr/>
        </p:nvSpPr>
        <p:spPr>
          <a:xfrm>
            <a:off x="2118600" y="3277750"/>
            <a:ext cx="4830900" cy="888000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p16"/>
          <p:cNvGrpSpPr/>
          <p:nvPr/>
        </p:nvGrpSpPr>
        <p:grpSpPr>
          <a:xfrm>
            <a:off x="5260520" y="1941310"/>
            <a:ext cx="255300" cy="97427"/>
            <a:chOff x="1169632" y="4149135"/>
            <a:chExt cx="255300" cy="97427"/>
          </a:xfrm>
        </p:grpSpPr>
        <p:sp>
          <p:nvSpPr>
            <p:cNvPr id="264" name="Google Shape;264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5" name="Google Shape;265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66" name="Google Shape;266;p16"/>
          <p:cNvSpPr txBox="1"/>
          <p:nvPr/>
        </p:nvSpPr>
        <p:spPr>
          <a:xfrm>
            <a:off x="2214475" y="3377250"/>
            <a:ext cx="11178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요청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6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2 .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UI html 응답, 임시 id 발행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Hello Intent 쿼리 (id)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3537750" y="3378150"/>
            <a:ext cx="13818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4. session 생성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session 저장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6. Agent 정보 조회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7. Hello Intent 쿼리 (session, query)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5020950" y="3370700"/>
            <a:ext cx="15762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8 Welcome Response 응답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9. new token 생성 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10. Welcome Response, token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11. 응답 화면 노출, token 교체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9" name="Google Shape;269;p16"/>
          <p:cNvGrpSpPr/>
          <p:nvPr/>
        </p:nvGrpSpPr>
        <p:grpSpPr>
          <a:xfrm>
            <a:off x="5016770" y="1467460"/>
            <a:ext cx="255300" cy="97427"/>
            <a:chOff x="1169632" y="4149135"/>
            <a:chExt cx="255300" cy="97427"/>
          </a:xfrm>
        </p:grpSpPr>
        <p:sp>
          <p:nvSpPr>
            <p:cNvPr id="270" name="Google Shape;270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72" name="Google Shape;272;p16"/>
          <p:cNvCxnSpPr/>
          <p:nvPr/>
        </p:nvCxnSpPr>
        <p:spPr>
          <a:xfrm flipH="1">
            <a:off x="2472238" y="1914776"/>
            <a:ext cx="251400" cy="365700"/>
          </a:xfrm>
          <a:prstGeom prst="bentConnector4">
            <a:avLst>
              <a:gd name="adj1" fmla="val -69327"/>
              <a:gd name="adj2" fmla="val 135541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273" name="Google Shape;273;p16"/>
          <p:cNvGrpSpPr/>
          <p:nvPr/>
        </p:nvGrpSpPr>
        <p:grpSpPr>
          <a:xfrm>
            <a:off x="2522327" y="2368500"/>
            <a:ext cx="380700" cy="95110"/>
            <a:chOff x="1107240" y="4149125"/>
            <a:chExt cx="380700" cy="95110"/>
          </a:xfrm>
        </p:grpSpPr>
        <p:sp>
          <p:nvSpPr>
            <p:cNvPr id="274" name="Google Shape;274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1107240" y="4149125"/>
              <a:ext cx="380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6" name="Google Shape;276;p16"/>
          <p:cNvGrpSpPr/>
          <p:nvPr/>
        </p:nvGrpSpPr>
        <p:grpSpPr>
          <a:xfrm>
            <a:off x="4965770" y="2339085"/>
            <a:ext cx="255300" cy="97427"/>
            <a:chOff x="1169632" y="4149135"/>
            <a:chExt cx="255300" cy="97427"/>
          </a:xfrm>
        </p:grpSpPr>
        <p:sp>
          <p:nvSpPr>
            <p:cNvPr id="277" name="Google Shape;277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79" name="Google Shape;279;p16"/>
          <p:cNvSpPr/>
          <p:nvPr/>
        </p:nvSpPr>
        <p:spPr>
          <a:xfrm>
            <a:off x="4429715" y="2666038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DB (MySQL)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Cloud SQL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0" name="Google Shape;2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2988" y="2735975"/>
            <a:ext cx="178350" cy="24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16"/>
          <p:cNvCxnSpPr/>
          <p:nvPr/>
        </p:nvCxnSpPr>
        <p:spPr>
          <a:xfrm>
            <a:off x="4308825" y="2168463"/>
            <a:ext cx="171600" cy="4515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282" name="Google Shape;282;p16"/>
          <p:cNvGrpSpPr/>
          <p:nvPr/>
        </p:nvGrpSpPr>
        <p:grpSpPr>
          <a:xfrm>
            <a:off x="4256920" y="2266960"/>
            <a:ext cx="255300" cy="97427"/>
            <a:chOff x="1169632" y="4149135"/>
            <a:chExt cx="255300" cy="97427"/>
          </a:xfrm>
        </p:grpSpPr>
        <p:sp>
          <p:nvSpPr>
            <p:cNvPr id="283" name="Google Shape;283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85" name="Google Shape;285;p16"/>
          <p:cNvGrpSpPr/>
          <p:nvPr/>
        </p:nvGrpSpPr>
        <p:grpSpPr>
          <a:xfrm>
            <a:off x="2934102" y="2171613"/>
            <a:ext cx="380700" cy="95110"/>
            <a:chOff x="1107240" y="4149125"/>
            <a:chExt cx="380700" cy="95110"/>
          </a:xfrm>
        </p:grpSpPr>
        <p:sp>
          <p:nvSpPr>
            <p:cNvPr id="286" name="Google Shape;286;p16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1107240" y="4149125"/>
              <a:ext cx="380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2" name="Google Shape;236;p16">
            <a:extLst>
              <a:ext uri="{FF2B5EF4-FFF2-40B4-BE49-F238E27FC236}">
                <a16:creationId xmlns:a16="http://schemas.microsoft.com/office/drawing/2014/main" id="{60B009AA-EAB3-42A5-85E8-B50AFBC523CD}"/>
              </a:ext>
            </a:extLst>
          </p:cNvPr>
          <p:cNvSpPr/>
          <p:nvPr/>
        </p:nvSpPr>
        <p:spPr>
          <a:xfrm>
            <a:off x="5810565" y="1713327"/>
            <a:ext cx="128989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alt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Fulfillment</a:t>
            </a:r>
            <a:r>
              <a:rPr 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 Server</a:t>
            </a:r>
            <a:br>
              <a:rPr lang="ko" sz="700" b="0" i="0" u="none" strike="noStrike" cap="none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" name="Google Shape;237;p16">
            <a:extLst>
              <a:ext uri="{FF2B5EF4-FFF2-40B4-BE49-F238E27FC236}">
                <a16:creationId xmlns:a16="http://schemas.microsoft.com/office/drawing/2014/main" id="{1D6BDA44-1FFA-4609-87BD-CD6FF769DEB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75031" y="1787212"/>
            <a:ext cx="238725" cy="19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19"/>
          <p:cNvCxnSpPr/>
          <p:nvPr/>
        </p:nvCxnSpPr>
        <p:spPr>
          <a:xfrm rot="-5400000" flipH="1">
            <a:off x="4131438" y="1427738"/>
            <a:ext cx="191100" cy="609000"/>
          </a:xfrm>
          <a:prstGeom prst="bentConnector4">
            <a:avLst>
              <a:gd name="adj1" fmla="val -56122"/>
              <a:gd name="adj2" fmla="val 12298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445" name="Google Shape;445;p19"/>
          <p:cNvCxnSpPr/>
          <p:nvPr/>
        </p:nvCxnSpPr>
        <p:spPr>
          <a:xfrm flipH="1">
            <a:off x="3922425" y="2060100"/>
            <a:ext cx="609000" cy="191100"/>
          </a:xfrm>
          <a:prstGeom prst="bentConnector4">
            <a:avLst>
              <a:gd name="adj1" fmla="val -23013"/>
              <a:gd name="adj2" fmla="val 17178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46" name="Google Shape;446;p19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60" b="1">
                <a:latin typeface="Malgun Gothic"/>
                <a:ea typeface="Malgun Gothic"/>
                <a:cs typeface="Malgun Gothic"/>
                <a:sym typeface="Malgun Gothic"/>
              </a:rPr>
              <a:t>2.2. Chat_intent (질의시) 프로세스 (Web UI)</a:t>
            </a:r>
            <a:endParaRPr sz="2120"/>
          </a:p>
        </p:txBody>
      </p:sp>
      <p:sp>
        <p:nvSpPr>
          <p:cNvPr id="447" name="Google Shape;447;p19"/>
          <p:cNvSpPr/>
          <p:nvPr/>
        </p:nvSpPr>
        <p:spPr>
          <a:xfrm>
            <a:off x="1820488" y="1607926"/>
            <a:ext cx="502800" cy="731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WebUI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8" name="Google Shape;4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7201" y="1742549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9"/>
          <p:cNvSpPr/>
          <p:nvPr/>
        </p:nvSpPr>
        <p:spPr>
          <a:xfrm>
            <a:off x="5315849" y="175265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Agent</a:t>
            </a:r>
            <a:br>
              <a:rPr lang="ko"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DialogFlow</a:t>
            </a:r>
            <a:endParaRPr/>
          </a:p>
        </p:txBody>
      </p:sp>
      <p:pic>
        <p:nvPicPr>
          <p:cNvPr id="450" name="Google Shape;4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0101" y="1782249"/>
            <a:ext cx="266779" cy="3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9"/>
          <p:cNvSpPr/>
          <p:nvPr/>
        </p:nvSpPr>
        <p:spPr>
          <a:xfrm>
            <a:off x="3253350" y="173075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2" name="Google Shape;452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17816" y="1804635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19"/>
          <p:cNvCxnSpPr/>
          <p:nvPr/>
        </p:nvCxnSpPr>
        <p:spPr>
          <a:xfrm flipH="1">
            <a:off x="3778150" y="2234200"/>
            <a:ext cx="900" cy="429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54" name="Google Shape;454;p19"/>
          <p:cNvSpPr/>
          <p:nvPr/>
        </p:nvSpPr>
        <p:spPr>
          <a:xfrm>
            <a:off x="3253350" y="268695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5" name="Google Shape;45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46100" y="2760463"/>
            <a:ext cx="235125" cy="2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6" name="Google Shape;456;p19"/>
          <p:cNvCxnSpPr/>
          <p:nvPr/>
        </p:nvCxnSpPr>
        <p:spPr>
          <a:xfrm>
            <a:off x="2424713" y="188126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457" name="Google Shape;457;p19"/>
          <p:cNvGrpSpPr/>
          <p:nvPr/>
        </p:nvGrpSpPr>
        <p:grpSpPr>
          <a:xfrm>
            <a:off x="2617307" y="1832110"/>
            <a:ext cx="255300" cy="97427"/>
            <a:chOff x="1169632" y="4149135"/>
            <a:chExt cx="255300" cy="97427"/>
          </a:xfrm>
        </p:grpSpPr>
        <p:sp>
          <p:nvSpPr>
            <p:cNvPr id="458" name="Google Shape;458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60" name="Google Shape;460;p19"/>
          <p:cNvCxnSpPr/>
          <p:nvPr/>
        </p:nvCxnSpPr>
        <p:spPr>
          <a:xfrm rot="10800000">
            <a:off x="2421863" y="199767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461" name="Google Shape;461;p19"/>
          <p:cNvGrpSpPr/>
          <p:nvPr/>
        </p:nvGrpSpPr>
        <p:grpSpPr>
          <a:xfrm>
            <a:off x="2617307" y="1948960"/>
            <a:ext cx="255300" cy="97427"/>
            <a:chOff x="1169632" y="4149135"/>
            <a:chExt cx="255300" cy="97427"/>
          </a:xfrm>
        </p:grpSpPr>
        <p:sp>
          <p:nvSpPr>
            <p:cNvPr id="462" name="Google Shape;462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64" name="Google Shape;464;p19"/>
          <p:cNvCxnSpPr/>
          <p:nvPr/>
        </p:nvCxnSpPr>
        <p:spPr>
          <a:xfrm>
            <a:off x="4573200" y="188576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465" name="Google Shape;465;p19"/>
          <p:cNvGrpSpPr/>
          <p:nvPr/>
        </p:nvGrpSpPr>
        <p:grpSpPr>
          <a:xfrm>
            <a:off x="4765795" y="1836610"/>
            <a:ext cx="255300" cy="97427"/>
            <a:chOff x="1169632" y="4149135"/>
            <a:chExt cx="255300" cy="97427"/>
          </a:xfrm>
        </p:grpSpPr>
        <p:sp>
          <p:nvSpPr>
            <p:cNvPr id="466" name="Google Shape;466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68" name="Google Shape;468;p19"/>
          <p:cNvCxnSpPr/>
          <p:nvPr/>
        </p:nvCxnSpPr>
        <p:spPr>
          <a:xfrm rot="10800000">
            <a:off x="4570350" y="200217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469" name="Google Shape;469;p19"/>
          <p:cNvGrpSpPr/>
          <p:nvPr/>
        </p:nvGrpSpPr>
        <p:grpSpPr>
          <a:xfrm>
            <a:off x="4765795" y="1953460"/>
            <a:ext cx="255300" cy="97427"/>
            <a:chOff x="1169632" y="4149135"/>
            <a:chExt cx="255300" cy="97427"/>
          </a:xfrm>
        </p:grpSpPr>
        <p:sp>
          <p:nvSpPr>
            <p:cNvPr id="470" name="Google Shape;470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2" name="Google Shape;472;p19"/>
          <p:cNvGrpSpPr/>
          <p:nvPr/>
        </p:nvGrpSpPr>
        <p:grpSpPr>
          <a:xfrm>
            <a:off x="3650945" y="2332698"/>
            <a:ext cx="255300" cy="97427"/>
            <a:chOff x="1169632" y="4149135"/>
            <a:chExt cx="255300" cy="97427"/>
          </a:xfrm>
        </p:grpSpPr>
        <p:sp>
          <p:nvSpPr>
            <p:cNvPr id="473" name="Google Shape;473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5" name="Google Shape;475;p19"/>
          <p:cNvSpPr/>
          <p:nvPr/>
        </p:nvSpPr>
        <p:spPr>
          <a:xfrm>
            <a:off x="1702650" y="3232475"/>
            <a:ext cx="4830899" cy="875398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1798525" y="3331975"/>
            <a:ext cx="12939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 Chat Intent 쿼리 (token, query)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2. token 검증, id 조회</a:t>
            </a:r>
            <a:endParaRPr lang="en-US" altLang="ko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lang="en-US" altLang="ko-KR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altLang="ko-KR" sz="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. Token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이 유효하지 않으면 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fail 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반환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session 갱신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3325350" y="3325425"/>
            <a:ext cx="14802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4. Intent 쿼리 (session, query)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Chatbot Response 응답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6. new token 생성 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4860300" y="3331975"/>
            <a:ext cx="1413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7.</a:t>
            </a:r>
            <a:r>
              <a:rPr lang="en-US" alt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Chat</a:t>
            </a: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Response, token 응답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8. 응답 화면 노출, token 교체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9" name="Google Shape;479;p19"/>
          <p:cNvGrpSpPr/>
          <p:nvPr/>
        </p:nvGrpSpPr>
        <p:grpSpPr>
          <a:xfrm>
            <a:off x="4416195" y="1490210"/>
            <a:ext cx="255300" cy="97427"/>
            <a:chOff x="1169632" y="4149135"/>
            <a:chExt cx="255300" cy="97427"/>
          </a:xfrm>
        </p:grpSpPr>
        <p:sp>
          <p:nvSpPr>
            <p:cNvPr id="480" name="Google Shape;480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2" name="Google Shape;482;p19"/>
          <p:cNvGrpSpPr/>
          <p:nvPr/>
        </p:nvGrpSpPr>
        <p:grpSpPr>
          <a:xfrm>
            <a:off x="4471045" y="2351235"/>
            <a:ext cx="255300" cy="97427"/>
            <a:chOff x="1169632" y="4149135"/>
            <a:chExt cx="255300" cy="97427"/>
          </a:xfrm>
        </p:grpSpPr>
        <p:sp>
          <p:nvSpPr>
            <p:cNvPr id="483" name="Google Shape;483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85" name="Google Shape;485;p19"/>
          <p:cNvCxnSpPr/>
          <p:nvPr/>
        </p:nvCxnSpPr>
        <p:spPr>
          <a:xfrm flipH="1">
            <a:off x="2124088" y="2114076"/>
            <a:ext cx="251400" cy="365700"/>
          </a:xfrm>
          <a:prstGeom prst="bentConnector4">
            <a:avLst>
              <a:gd name="adj1" fmla="val -69327"/>
              <a:gd name="adj2" fmla="val 135541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486" name="Google Shape;486;p19"/>
          <p:cNvGrpSpPr/>
          <p:nvPr/>
        </p:nvGrpSpPr>
        <p:grpSpPr>
          <a:xfrm>
            <a:off x="2206802" y="2567525"/>
            <a:ext cx="380700" cy="95110"/>
            <a:chOff x="1107240" y="4149125"/>
            <a:chExt cx="380700" cy="95110"/>
          </a:xfrm>
        </p:grpSpPr>
        <p:sp>
          <p:nvSpPr>
            <p:cNvPr id="487" name="Google Shape;487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1107240" y="4149125"/>
              <a:ext cx="380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7" name="Google Shape;460;p19">
            <a:extLst>
              <a:ext uri="{FF2B5EF4-FFF2-40B4-BE49-F238E27FC236}">
                <a16:creationId xmlns:a16="http://schemas.microsoft.com/office/drawing/2014/main" id="{B8D5A76C-B826-4340-9563-101E2FA41F3B}"/>
              </a:ext>
            </a:extLst>
          </p:cNvPr>
          <p:cNvCxnSpPr>
            <a:cxnSpLocks/>
          </p:cNvCxnSpPr>
          <p:nvPr/>
        </p:nvCxnSpPr>
        <p:spPr>
          <a:xfrm flipH="1">
            <a:off x="2323288" y="1705661"/>
            <a:ext cx="910414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49" name="Google Shape;457;p19">
            <a:extLst>
              <a:ext uri="{FF2B5EF4-FFF2-40B4-BE49-F238E27FC236}">
                <a16:creationId xmlns:a16="http://schemas.microsoft.com/office/drawing/2014/main" id="{74613B8E-D9AD-4120-8A8A-893CF0CDBE74}"/>
              </a:ext>
            </a:extLst>
          </p:cNvPr>
          <p:cNvGrpSpPr/>
          <p:nvPr/>
        </p:nvGrpSpPr>
        <p:grpSpPr>
          <a:xfrm>
            <a:off x="2617307" y="1651901"/>
            <a:ext cx="288432" cy="110174"/>
            <a:chOff x="1169632" y="4149135"/>
            <a:chExt cx="255300" cy="97427"/>
          </a:xfrm>
        </p:grpSpPr>
        <p:sp>
          <p:nvSpPr>
            <p:cNvPr id="50" name="Google Shape;458;p19">
              <a:extLst>
                <a:ext uri="{FF2B5EF4-FFF2-40B4-BE49-F238E27FC236}">
                  <a16:creationId xmlns:a16="http://schemas.microsoft.com/office/drawing/2014/main" id="{87323F08-8661-4FE2-A053-7EF1C89300AC}"/>
                </a:ext>
              </a:extLst>
            </p:cNvPr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" name="Google Shape;459;p19">
              <a:extLst>
                <a:ext uri="{FF2B5EF4-FFF2-40B4-BE49-F238E27FC236}">
                  <a16:creationId xmlns:a16="http://schemas.microsoft.com/office/drawing/2014/main" id="{25C22289-875E-4415-B262-83CDE591549D}"/>
                </a:ext>
              </a:extLst>
            </p:cNvPr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altLang="ko" sz="6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lang="en-US" altLang="ko" sz="600" dirty="0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*</a:t>
              </a:r>
              <a:endParaRPr sz="600" b="0" i="0" u="none" strike="noStrike" cap="none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4" name="Google Shape;444;p19"/>
          <p:cNvCxnSpPr/>
          <p:nvPr/>
        </p:nvCxnSpPr>
        <p:spPr>
          <a:xfrm rot="-5400000" flipH="1">
            <a:off x="4131438" y="1427738"/>
            <a:ext cx="191100" cy="609000"/>
          </a:xfrm>
          <a:prstGeom prst="bentConnector4">
            <a:avLst>
              <a:gd name="adj1" fmla="val -56122"/>
              <a:gd name="adj2" fmla="val 12298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445" name="Google Shape;445;p19"/>
          <p:cNvCxnSpPr/>
          <p:nvPr/>
        </p:nvCxnSpPr>
        <p:spPr>
          <a:xfrm flipH="1">
            <a:off x="3922425" y="2060100"/>
            <a:ext cx="609000" cy="191100"/>
          </a:xfrm>
          <a:prstGeom prst="bentConnector4">
            <a:avLst>
              <a:gd name="adj1" fmla="val -23013"/>
              <a:gd name="adj2" fmla="val 17178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46" name="Google Shape;446;p19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2.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altLang="ko" sz="1760" b="1" dirty="0" err="1">
                <a:latin typeface="Malgun Gothic"/>
                <a:ea typeface="Malgun Gothic"/>
                <a:cs typeface="Malgun Gothic"/>
                <a:sym typeface="Malgun Gothic"/>
              </a:rPr>
              <a:t>gpt_query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(질의시) 프로세스 (Web UI)</a:t>
            </a:r>
            <a:endParaRPr sz="2120" dirty="0"/>
          </a:p>
        </p:txBody>
      </p:sp>
      <p:sp>
        <p:nvSpPr>
          <p:cNvPr id="447" name="Google Shape;447;p19"/>
          <p:cNvSpPr/>
          <p:nvPr/>
        </p:nvSpPr>
        <p:spPr>
          <a:xfrm>
            <a:off x="1820488" y="1607926"/>
            <a:ext cx="502800" cy="731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WebUI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48" name="Google Shape;4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7201" y="1742549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9"/>
          <p:cNvSpPr/>
          <p:nvPr/>
        </p:nvSpPr>
        <p:spPr>
          <a:xfrm>
            <a:off x="5315849" y="175265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alt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GPT API</a:t>
            </a:r>
            <a:br>
              <a:rPr lang="ko" sz="7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altLang="ko" sz="7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Orchestration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1" name="Google Shape;451;p19"/>
          <p:cNvSpPr/>
          <p:nvPr/>
        </p:nvSpPr>
        <p:spPr>
          <a:xfrm>
            <a:off x="3253350" y="173075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2" name="Google Shape;45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7816" y="1804635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3" name="Google Shape;453;p19"/>
          <p:cNvCxnSpPr/>
          <p:nvPr/>
        </p:nvCxnSpPr>
        <p:spPr>
          <a:xfrm flipH="1">
            <a:off x="3778150" y="2234200"/>
            <a:ext cx="900" cy="429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54" name="Google Shape;454;p19"/>
          <p:cNvSpPr/>
          <p:nvPr/>
        </p:nvSpPr>
        <p:spPr>
          <a:xfrm>
            <a:off x="3253350" y="2686950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5" name="Google Shape;4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6100" y="2760463"/>
            <a:ext cx="235125" cy="2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6" name="Google Shape;456;p19"/>
          <p:cNvCxnSpPr/>
          <p:nvPr/>
        </p:nvCxnSpPr>
        <p:spPr>
          <a:xfrm>
            <a:off x="2424713" y="188126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457" name="Google Shape;457;p19"/>
          <p:cNvGrpSpPr/>
          <p:nvPr/>
        </p:nvGrpSpPr>
        <p:grpSpPr>
          <a:xfrm>
            <a:off x="2617307" y="1832110"/>
            <a:ext cx="255300" cy="97427"/>
            <a:chOff x="1169632" y="4149135"/>
            <a:chExt cx="255300" cy="97427"/>
          </a:xfrm>
        </p:grpSpPr>
        <p:sp>
          <p:nvSpPr>
            <p:cNvPr id="458" name="Google Shape;458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60" name="Google Shape;460;p19"/>
          <p:cNvCxnSpPr/>
          <p:nvPr/>
        </p:nvCxnSpPr>
        <p:spPr>
          <a:xfrm rot="10800000">
            <a:off x="2421863" y="199767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461" name="Google Shape;461;p19"/>
          <p:cNvGrpSpPr/>
          <p:nvPr/>
        </p:nvGrpSpPr>
        <p:grpSpPr>
          <a:xfrm>
            <a:off x="2617307" y="1948960"/>
            <a:ext cx="255300" cy="97427"/>
            <a:chOff x="1169632" y="4149135"/>
            <a:chExt cx="255300" cy="97427"/>
          </a:xfrm>
        </p:grpSpPr>
        <p:sp>
          <p:nvSpPr>
            <p:cNvPr id="462" name="Google Shape;462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64" name="Google Shape;464;p19"/>
          <p:cNvCxnSpPr/>
          <p:nvPr/>
        </p:nvCxnSpPr>
        <p:spPr>
          <a:xfrm>
            <a:off x="4573200" y="188576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465" name="Google Shape;465;p19"/>
          <p:cNvGrpSpPr/>
          <p:nvPr/>
        </p:nvGrpSpPr>
        <p:grpSpPr>
          <a:xfrm>
            <a:off x="4765795" y="1836610"/>
            <a:ext cx="255300" cy="97427"/>
            <a:chOff x="1169632" y="4149135"/>
            <a:chExt cx="255300" cy="97427"/>
          </a:xfrm>
        </p:grpSpPr>
        <p:sp>
          <p:nvSpPr>
            <p:cNvPr id="466" name="Google Shape;466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68" name="Google Shape;468;p19"/>
          <p:cNvCxnSpPr/>
          <p:nvPr/>
        </p:nvCxnSpPr>
        <p:spPr>
          <a:xfrm rot="10800000">
            <a:off x="4570350" y="200217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469" name="Google Shape;469;p19"/>
          <p:cNvGrpSpPr/>
          <p:nvPr/>
        </p:nvGrpSpPr>
        <p:grpSpPr>
          <a:xfrm>
            <a:off x="4765795" y="1953460"/>
            <a:ext cx="255300" cy="97427"/>
            <a:chOff x="1169632" y="4149135"/>
            <a:chExt cx="255300" cy="97427"/>
          </a:xfrm>
        </p:grpSpPr>
        <p:sp>
          <p:nvSpPr>
            <p:cNvPr id="470" name="Google Shape;470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72" name="Google Shape;472;p19"/>
          <p:cNvGrpSpPr/>
          <p:nvPr/>
        </p:nvGrpSpPr>
        <p:grpSpPr>
          <a:xfrm>
            <a:off x="3650945" y="2332698"/>
            <a:ext cx="255300" cy="97427"/>
            <a:chOff x="1169632" y="4149135"/>
            <a:chExt cx="255300" cy="97427"/>
          </a:xfrm>
        </p:grpSpPr>
        <p:sp>
          <p:nvSpPr>
            <p:cNvPr id="473" name="Google Shape;473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75" name="Google Shape;475;p19"/>
          <p:cNvSpPr/>
          <p:nvPr/>
        </p:nvSpPr>
        <p:spPr>
          <a:xfrm>
            <a:off x="1702650" y="3232474"/>
            <a:ext cx="4830899" cy="821627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1798525" y="3331975"/>
            <a:ext cx="12939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 Chat Intent 쿼리 (token, query)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2. token 검증, id 조회</a:t>
            </a:r>
            <a:endParaRPr lang="en-US" altLang="ko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lang="en-US" altLang="ko-KR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757575"/>
              </a:buClr>
            </a:pP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ko-KR" altLang="en-US" sz="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. Token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이 유효하지 않으면 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fail 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반환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session 갱신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3325350" y="3325425"/>
            <a:ext cx="1480200" cy="6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4. 쿼리 (session, query</a:t>
            </a:r>
            <a:r>
              <a:rPr lang="en-US" alt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, chat </a:t>
            </a:r>
            <a:r>
              <a:rPr lang="en-US" altLang="ko" sz="600" dirty="0" err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hisotry</a:t>
            </a:r>
            <a:r>
              <a:rPr lang="en-US" alt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product type 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등</a:t>
            </a: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</a:t>
            </a:r>
            <a:r>
              <a:rPr lang="en-US" alt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GPT</a:t>
            </a: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Response 응답</a:t>
            </a:r>
            <a:r>
              <a:rPr lang="en-US" alt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수신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6. new token 생성 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4860300" y="3331975"/>
            <a:ext cx="1413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7. </a:t>
            </a:r>
            <a:r>
              <a:rPr lang="en-US" alt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GPT</a:t>
            </a: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Response, token 응답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8. 응답 화면 노출, token 교체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9" name="Google Shape;479;p19"/>
          <p:cNvGrpSpPr/>
          <p:nvPr/>
        </p:nvGrpSpPr>
        <p:grpSpPr>
          <a:xfrm>
            <a:off x="4416195" y="1490210"/>
            <a:ext cx="255300" cy="97427"/>
            <a:chOff x="1169632" y="4149135"/>
            <a:chExt cx="255300" cy="97427"/>
          </a:xfrm>
        </p:grpSpPr>
        <p:sp>
          <p:nvSpPr>
            <p:cNvPr id="480" name="Google Shape;480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82" name="Google Shape;482;p19"/>
          <p:cNvGrpSpPr/>
          <p:nvPr/>
        </p:nvGrpSpPr>
        <p:grpSpPr>
          <a:xfrm>
            <a:off x="4471045" y="2351235"/>
            <a:ext cx="255300" cy="97427"/>
            <a:chOff x="1169632" y="4149135"/>
            <a:chExt cx="255300" cy="97427"/>
          </a:xfrm>
        </p:grpSpPr>
        <p:sp>
          <p:nvSpPr>
            <p:cNvPr id="483" name="Google Shape;483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85" name="Google Shape;485;p19"/>
          <p:cNvCxnSpPr/>
          <p:nvPr/>
        </p:nvCxnSpPr>
        <p:spPr>
          <a:xfrm flipH="1">
            <a:off x="2124088" y="2114076"/>
            <a:ext cx="251400" cy="365700"/>
          </a:xfrm>
          <a:prstGeom prst="bentConnector4">
            <a:avLst>
              <a:gd name="adj1" fmla="val -69327"/>
              <a:gd name="adj2" fmla="val 135541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486" name="Google Shape;486;p19"/>
          <p:cNvGrpSpPr/>
          <p:nvPr/>
        </p:nvGrpSpPr>
        <p:grpSpPr>
          <a:xfrm>
            <a:off x="2206802" y="2567525"/>
            <a:ext cx="380700" cy="95110"/>
            <a:chOff x="1107240" y="4149125"/>
            <a:chExt cx="380700" cy="95110"/>
          </a:xfrm>
        </p:grpSpPr>
        <p:sp>
          <p:nvSpPr>
            <p:cNvPr id="487" name="Google Shape;487;p19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1107240" y="4149125"/>
              <a:ext cx="380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7" name="Google Shape;460;p19">
            <a:extLst>
              <a:ext uri="{FF2B5EF4-FFF2-40B4-BE49-F238E27FC236}">
                <a16:creationId xmlns:a16="http://schemas.microsoft.com/office/drawing/2014/main" id="{84F68349-0928-4E05-A713-84BAB01F8654}"/>
              </a:ext>
            </a:extLst>
          </p:cNvPr>
          <p:cNvCxnSpPr>
            <a:cxnSpLocks/>
          </p:cNvCxnSpPr>
          <p:nvPr/>
        </p:nvCxnSpPr>
        <p:spPr>
          <a:xfrm flipH="1">
            <a:off x="2323288" y="1705661"/>
            <a:ext cx="910414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48" name="Google Shape;457;p19">
            <a:extLst>
              <a:ext uri="{FF2B5EF4-FFF2-40B4-BE49-F238E27FC236}">
                <a16:creationId xmlns:a16="http://schemas.microsoft.com/office/drawing/2014/main" id="{E1684773-5B33-426D-99B6-D6E9D8866B09}"/>
              </a:ext>
            </a:extLst>
          </p:cNvPr>
          <p:cNvGrpSpPr/>
          <p:nvPr/>
        </p:nvGrpSpPr>
        <p:grpSpPr>
          <a:xfrm>
            <a:off x="2617307" y="1651901"/>
            <a:ext cx="288432" cy="110174"/>
            <a:chOff x="1169632" y="4149135"/>
            <a:chExt cx="255300" cy="97427"/>
          </a:xfrm>
        </p:grpSpPr>
        <p:sp>
          <p:nvSpPr>
            <p:cNvPr id="49" name="Google Shape;458;p19">
              <a:extLst>
                <a:ext uri="{FF2B5EF4-FFF2-40B4-BE49-F238E27FC236}">
                  <a16:creationId xmlns:a16="http://schemas.microsoft.com/office/drawing/2014/main" id="{C9219529-9927-40FF-8172-31A609EB5396}"/>
                </a:ext>
              </a:extLst>
            </p:cNvPr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" name="Google Shape;459;p19">
              <a:extLst>
                <a:ext uri="{FF2B5EF4-FFF2-40B4-BE49-F238E27FC236}">
                  <a16:creationId xmlns:a16="http://schemas.microsoft.com/office/drawing/2014/main" id="{17B55BFB-93B1-4428-9AA7-43523AF58B3F}"/>
                </a:ext>
              </a:extLst>
            </p:cNvPr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altLang="ko" sz="6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lang="en-US" altLang="ko" sz="600" dirty="0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*</a:t>
              </a:r>
              <a:endParaRPr sz="600" b="0" i="0" u="none" strike="noStrike" cap="none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76F5473B-1431-4EED-830C-03F783F5F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8912" y="1812300"/>
            <a:ext cx="298167" cy="2733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ED011C-2113-4667-909C-BA9A0334B4F9}"/>
              </a:ext>
            </a:extLst>
          </p:cNvPr>
          <p:cNvSpPr txBox="1"/>
          <p:nvPr/>
        </p:nvSpPr>
        <p:spPr>
          <a:xfrm>
            <a:off x="6766474" y="3232474"/>
            <a:ext cx="1965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Roboto" panose="020B0600000101010101" charset="0"/>
              </a:rPr>
              <a:t>GPT API </a:t>
            </a:r>
            <a:r>
              <a:rPr lang="ko-KR" altLang="en-US" sz="900" b="1" dirty="0">
                <a:latin typeface="Roboto" panose="020B0600000101010101" charset="0"/>
              </a:rPr>
              <a:t>호출 시나리오</a:t>
            </a:r>
            <a:endParaRPr lang="en-US" altLang="ko-KR" sz="900" b="1" dirty="0">
              <a:latin typeface="Roboto" panose="020B0600000101010101" charset="0"/>
            </a:endParaRPr>
          </a:p>
          <a:p>
            <a:endParaRPr lang="en-US" altLang="ko-KR" sz="900" b="1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사용자가  법인이 지정한 제품들을 선택했을 때 </a:t>
            </a:r>
            <a:r>
              <a:rPr lang="en-US" altLang="ko-KR" sz="700" dirty="0">
                <a:latin typeface="Roboto" panose="020B0600000101010101" charset="0"/>
              </a:rPr>
              <a:t>GPT API </a:t>
            </a:r>
            <a:r>
              <a:rPr lang="ko-KR" altLang="en-US" sz="700" dirty="0">
                <a:latin typeface="Roboto" panose="020B0600000101010101" charset="0"/>
              </a:rPr>
              <a:t>호출</a:t>
            </a:r>
            <a:endParaRPr lang="ko-KR" altLang="en-US" sz="800" dirty="0">
              <a:latin typeface="Roboto" panose="020B060000010101010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52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0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. Hello_intent (최초 진입시) (WhatsApp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altLang="ko" sz="1760" b="1" dirty="0" err="1">
                <a:latin typeface="Malgun Gothic"/>
                <a:ea typeface="Malgun Gothic"/>
                <a:cs typeface="Malgun Gothic"/>
                <a:sym typeface="Malgun Gothic"/>
              </a:rPr>
              <a:t>twilio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-KR" altLang="en-US" sz="1760" b="1" dirty="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760" b="1" dirty="0"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2120" dirty="0"/>
          </a:p>
        </p:txBody>
      </p:sp>
      <p:sp>
        <p:nvSpPr>
          <p:cNvPr id="494" name="Google Shape;494;p20"/>
          <p:cNvSpPr/>
          <p:nvPr/>
        </p:nvSpPr>
        <p:spPr>
          <a:xfrm>
            <a:off x="6796250" y="1547150"/>
            <a:ext cx="11178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Agent</a:t>
            </a:r>
            <a:br>
              <a:rPr lang="ko"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DialogFlow</a:t>
            </a:r>
            <a:endParaRPr/>
          </a:p>
        </p:txBody>
      </p:sp>
      <p:pic>
        <p:nvPicPr>
          <p:cNvPr id="495" name="Google Shape;4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0501" y="1576749"/>
            <a:ext cx="266779" cy="3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0"/>
          <p:cNvSpPr/>
          <p:nvPr/>
        </p:nvSpPr>
        <p:spPr>
          <a:xfrm>
            <a:off x="4875800" y="1525250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7" name="Google Shape;49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40266" y="1599135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8" name="Google Shape;498;p20"/>
          <p:cNvCxnSpPr/>
          <p:nvPr/>
        </p:nvCxnSpPr>
        <p:spPr>
          <a:xfrm flipH="1">
            <a:off x="5330875" y="2018000"/>
            <a:ext cx="900" cy="429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499" name="Google Shape;499;p20"/>
          <p:cNvSpPr/>
          <p:nvPr/>
        </p:nvSpPr>
        <p:spPr>
          <a:xfrm>
            <a:off x="4875800" y="2481450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0" name="Google Shape;50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8550" y="2554963"/>
            <a:ext cx="235125" cy="2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20"/>
          <p:cNvCxnSpPr/>
          <p:nvPr/>
        </p:nvCxnSpPr>
        <p:spPr>
          <a:xfrm>
            <a:off x="4142563" y="168026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02" name="Google Shape;502;p20"/>
          <p:cNvGrpSpPr/>
          <p:nvPr/>
        </p:nvGrpSpPr>
        <p:grpSpPr>
          <a:xfrm>
            <a:off x="4335157" y="1631110"/>
            <a:ext cx="255300" cy="97427"/>
            <a:chOff x="1169632" y="4149135"/>
            <a:chExt cx="255300" cy="97427"/>
          </a:xfrm>
        </p:grpSpPr>
        <p:sp>
          <p:nvSpPr>
            <p:cNvPr id="503" name="Google Shape;503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05" name="Google Shape;505;p20"/>
          <p:cNvCxnSpPr/>
          <p:nvPr/>
        </p:nvCxnSpPr>
        <p:spPr>
          <a:xfrm rot="10800000">
            <a:off x="4139713" y="179667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06" name="Google Shape;506;p20"/>
          <p:cNvGrpSpPr/>
          <p:nvPr/>
        </p:nvGrpSpPr>
        <p:grpSpPr>
          <a:xfrm>
            <a:off x="4335157" y="1747960"/>
            <a:ext cx="255300" cy="97427"/>
            <a:chOff x="1169632" y="4149135"/>
            <a:chExt cx="255300" cy="97427"/>
          </a:xfrm>
        </p:grpSpPr>
        <p:sp>
          <p:nvSpPr>
            <p:cNvPr id="507" name="Google Shape;507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09" name="Google Shape;509;p20"/>
          <p:cNvCxnSpPr/>
          <p:nvPr/>
        </p:nvCxnSpPr>
        <p:spPr>
          <a:xfrm>
            <a:off x="6066250" y="169331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10" name="Google Shape;510;p20"/>
          <p:cNvGrpSpPr/>
          <p:nvPr/>
        </p:nvGrpSpPr>
        <p:grpSpPr>
          <a:xfrm>
            <a:off x="6258845" y="1644160"/>
            <a:ext cx="255300" cy="97427"/>
            <a:chOff x="1169632" y="4149135"/>
            <a:chExt cx="255300" cy="97427"/>
          </a:xfrm>
        </p:grpSpPr>
        <p:sp>
          <p:nvSpPr>
            <p:cNvPr id="511" name="Google Shape;511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13" name="Google Shape;513;p20"/>
          <p:cNvCxnSpPr/>
          <p:nvPr/>
        </p:nvCxnSpPr>
        <p:spPr>
          <a:xfrm rot="10800000">
            <a:off x="6063400" y="180972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14" name="Google Shape;514;p20"/>
          <p:cNvGrpSpPr/>
          <p:nvPr/>
        </p:nvGrpSpPr>
        <p:grpSpPr>
          <a:xfrm>
            <a:off x="6258845" y="1761010"/>
            <a:ext cx="255300" cy="97427"/>
            <a:chOff x="1169632" y="4149135"/>
            <a:chExt cx="255300" cy="97427"/>
          </a:xfrm>
        </p:grpSpPr>
        <p:sp>
          <p:nvSpPr>
            <p:cNvPr id="515" name="Google Shape;515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" name="Google Shape;516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7" name="Google Shape;517;p20"/>
          <p:cNvGrpSpPr/>
          <p:nvPr/>
        </p:nvGrpSpPr>
        <p:grpSpPr>
          <a:xfrm>
            <a:off x="5203670" y="2116498"/>
            <a:ext cx="255300" cy="97427"/>
            <a:chOff x="1169632" y="4149135"/>
            <a:chExt cx="255300" cy="97427"/>
          </a:xfrm>
        </p:grpSpPr>
        <p:sp>
          <p:nvSpPr>
            <p:cNvPr id="518" name="Google Shape;518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" name="Google Shape;519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0" name="Google Shape;520;p20"/>
          <p:cNvSpPr/>
          <p:nvPr/>
        </p:nvSpPr>
        <p:spPr>
          <a:xfrm>
            <a:off x="1117007" y="3035253"/>
            <a:ext cx="4417884" cy="973500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0"/>
          <p:cNvSpPr txBox="1"/>
          <p:nvPr/>
        </p:nvSpPr>
        <p:spPr>
          <a:xfrm>
            <a:off x="1231257" y="3142128"/>
            <a:ext cx="11178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채팅 진입 event noti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2. Hello Intent 쿼리 (client id?)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session 생성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20"/>
          <p:cNvSpPr txBox="1"/>
          <p:nvPr/>
        </p:nvSpPr>
        <p:spPr>
          <a:xfrm>
            <a:off x="2554532" y="3143028"/>
            <a:ext cx="12777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session 저장, 갱신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Hello Intent 쿼리 (session, query)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6. Welcome Response  응답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20"/>
          <p:cNvSpPr txBox="1"/>
          <p:nvPr/>
        </p:nvSpPr>
        <p:spPr>
          <a:xfrm>
            <a:off x="4037732" y="3135578"/>
            <a:ext cx="14130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7. Whatsapp Form으로 응답 가공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8. Whatsapp 용 Response 응답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9. Response Component 추출, Zendesk 용 응답 생성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10. send Response message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" name="Google Shape;524;p20"/>
          <p:cNvCxnSpPr/>
          <p:nvPr/>
        </p:nvCxnSpPr>
        <p:spPr>
          <a:xfrm rot="-5400000" flipH="1">
            <a:off x="5608238" y="1244088"/>
            <a:ext cx="191100" cy="609000"/>
          </a:xfrm>
          <a:prstGeom prst="bentConnector4">
            <a:avLst>
              <a:gd name="adj1" fmla="val -56122"/>
              <a:gd name="adj2" fmla="val 12298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25" name="Google Shape;525;p20"/>
          <p:cNvGrpSpPr/>
          <p:nvPr/>
        </p:nvGrpSpPr>
        <p:grpSpPr>
          <a:xfrm>
            <a:off x="5892995" y="1306560"/>
            <a:ext cx="255300" cy="97427"/>
            <a:chOff x="1169632" y="4149135"/>
            <a:chExt cx="255300" cy="97427"/>
          </a:xfrm>
        </p:grpSpPr>
        <p:sp>
          <p:nvSpPr>
            <p:cNvPr id="526" name="Google Shape;526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27" name="Google Shape;527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28" name="Google Shape;528;p20"/>
          <p:cNvCxnSpPr/>
          <p:nvPr/>
        </p:nvCxnSpPr>
        <p:spPr>
          <a:xfrm flipH="1">
            <a:off x="5399288" y="1893100"/>
            <a:ext cx="609000" cy="191100"/>
          </a:xfrm>
          <a:prstGeom prst="bentConnector4">
            <a:avLst>
              <a:gd name="adj1" fmla="val -23013"/>
              <a:gd name="adj2" fmla="val 17178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29" name="Google Shape;529;p20"/>
          <p:cNvGrpSpPr/>
          <p:nvPr/>
        </p:nvGrpSpPr>
        <p:grpSpPr>
          <a:xfrm>
            <a:off x="5947907" y="2184235"/>
            <a:ext cx="255300" cy="97427"/>
            <a:chOff x="1169632" y="4149135"/>
            <a:chExt cx="255300" cy="97427"/>
          </a:xfrm>
        </p:grpSpPr>
        <p:sp>
          <p:nvSpPr>
            <p:cNvPr id="530" name="Google Shape;530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2" name="Google Shape;532;p20"/>
          <p:cNvGrpSpPr/>
          <p:nvPr/>
        </p:nvGrpSpPr>
        <p:grpSpPr>
          <a:xfrm>
            <a:off x="3600636" y="1401662"/>
            <a:ext cx="449220" cy="673185"/>
            <a:chOff x="-758361" y="4526835"/>
            <a:chExt cx="572400" cy="809700"/>
          </a:xfrm>
        </p:grpSpPr>
        <p:sp>
          <p:nvSpPr>
            <p:cNvPr id="533" name="Google Shape;533;p20"/>
            <p:cNvSpPr/>
            <p:nvPr/>
          </p:nvSpPr>
          <p:spPr>
            <a:xfrm>
              <a:off x="-758361" y="4526835"/>
              <a:ext cx="572400" cy="8097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Relay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34" name="Google Shape;534;p2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-651852" y="4624803"/>
              <a:ext cx="359400" cy="3294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35" name="Google Shape;535;p20"/>
          <p:cNvCxnSpPr/>
          <p:nvPr/>
        </p:nvCxnSpPr>
        <p:spPr>
          <a:xfrm>
            <a:off x="2897525" y="168026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36" name="Google Shape;536;p20"/>
          <p:cNvGrpSpPr/>
          <p:nvPr/>
        </p:nvGrpSpPr>
        <p:grpSpPr>
          <a:xfrm>
            <a:off x="3090120" y="1631110"/>
            <a:ext cx="255300" cy="97427"/>
            <a:chOff x="1169632" y="4149135"/>
            <a:chExt cx="255300" cy="97427"/>
          </a:xfrm>
        </p:grpSpPr>
        <p:sp>
          <p:nvSpPr>
            <p:cNvPr id="537" name="Google Shape;537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39" name="Google Shape;539;p20"/>
          <p:cNvCxnSpPr/>
          <p:nvPr/>
        </p:nvCxnSpPr>
        <p:spPr>
          <a:xfrm rot="10800000">
            <a:off x="2894675" y="179667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40" name="Google Shape;540;p20"/>
          <p:cNvGrpSpPr/>
          <p:nvPr/>
        </p:nvGrpSpPr>
        <p:grpSpPr>
          <a:xfrm>
            <a:off x="3090120" y="1747960"/>
            <a:ext cx="255300" cy="97427"/>
            <a:chOff x="1169632" y="4149135"/>
            <a:chExt cx="255300" cy="97427"/>
          </a:xfrm>
        </p:grpSpPr>
        <p:sp>
          <p:nvSpPr>
            <p:cNvPr id="541" name="Google Shape;541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43" name="Google Shape;543;p20"/>
          <p:cNvGrpSpPr/>
          <p:nvPr/>
        </p:nvGrpSpPr>
        <p:grpSpPr>
          <a:xfrm>
            <a:off x="1120331" y="1424138"/>
            <a:ext cx="502794" cy="628200"/>
            <a:chOff x="6052000" y="1261450"/>
            <a:chExt cx="466500" cy="628200"/>
          </a:xfrm>
        </p:grpSpPr>
        <p:sp>
          <p:nvSpPr>
            <p:cNvPr id="544" name="Google Shape;544;p20"/>
            <p:cNvSpPr/>
            <p:nvPr/>
          </p:nvSpPr>
          <p:spPr>
            <a:xfrm>
              <a:off x="6052000" y="1261450"/>
              <a:ext cx="466500" cy="628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Whatsapp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45" name="Google Shape;545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39546" y="1342175"/>
              <a:ext cx="281698" cy="28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6" name="Google Shape;546;p20"/>
          <p:cNvSpPr/>
          <p:nvPr/>
        </p:nvSpPr>
        <p:spPr>
          <a:xfrm>
            <a:off x="2366200" y="1507251"/>
            <a:ext cx="429900" cy="4620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7" name="Google Shape;54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16002" y="1611350"/>
            <a:ext cx="337800" cy="253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20"/>
          <p:cNvCxnSpPr/>
          <p:nvPr/>
        </p:nvCxnSpPr>
        <p:spPr>
          <a:xfrm>
            <a:off x="1674413" y="1698038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49" name="Google Shape;549;p20"/>
          <p:cNvGrpSpPr/>
          <p:nvPr/>
        </p:nvGrpSpPr>
        <p:grpSpPr>
          <a:xfrm>
            <a:off x="1867007" y="1648885"/>
            <a:ext cx="255300" cy="97427"/>
            <a:chOff x="1169632" y="4149135"/>
            <a:chExt cx="255300" cy="97427"/>
          </a:xfrm>
        </p:grpSpPr>
        <p:sp>
          <p:nvSpPr>
            <p:cNvPr id="550" name="Google Shape;550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52" name="Google Shape;552;p20"/>
          <p:cNvCxnSpPr/>
          <p:nvPr/>
        </p:nvCxnSpPr>
        <p:spPr>
          <a:xfrm rot="10800000">
            <a:off x="1671563" y="1814450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53" name="Google Shape;553;p20"/>
          <p:cNvGrpSpPr/>
          <p:nvPr/>
        </p:nvGrpSpPr>
        <p:grpSpPr>
          <a:xfrm>
            <a:off x="1804315" y="1766900"/>
            <a:ext cx="380700" cy="95110"/>
            <a:chOff x="1107240" y="4149125"/>
            <a:chExt cx="380700" cy="95110"/>
          </a:xfrm>
        </p:grpSpPr>
        <p:sp>
          <p:nvSpPr>
            <p:cNvPr id="554" name="Google Shape;554;p20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1107240" y="4149125"/>
              <a:ext cx="380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2D8C69B4-C03A-4C9F-8F4E-4F604BAAA264}"/>
              </a:ext>
            </a:extLst>
          </p:cNvPr>
          <p:cNvSpPr txBox="1"/>
          <p:nvPr/>
        </p:nvSpPr>
        <p:spPr>
          <a:xfrm>
            <a:off x="5907200" y="3014874"/>
            <a:ext cx="2840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err="1">
                <a:latin typeface="Roboto" panose="020B0600000101010101" charset="0"/>
              </a:rPr>
              <a:t>Whatsapp</a:t>
            </a:r>
            <a:r>
              <a:rPr lang="en-US" altLang="ko-KR" sz="900" b="1" dirty="0">
                <a:latin typeface="Roboto" panose="020B0600000101010101" charset="0"/>
              </a:rPr>
              <a:t> Form</a:t>
            </a:r>
            <a:r>
              <a:rPr lang="ko-KR" altLang="en-US" sz="900" b="1" dirty="0">
                <a:latin typeface="Roboto" panose="020B0600000101010101" charset="0"/>
              </a:rPr>
              <a:t>으로 응답 가공이란</a:t>
            </a:r>
            <a:r>
              <a:rPr lang="en-US" altLang="ko-KR" sz="900" b="1" dirty="0">
                <a:latin typeface="Roboto" panose="020B0600000101010101" charset="0"/>
              </a:rPr>
              <a:t>?</a:t>
            </a:r>
          </a:p>
          <a:p>
            <a:endParaRPr lang="en-US" altLang="ko-KR" sz="900" b="1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중계 서버와 </a:t>
            </a:r>
            <a:r>
              <a:rPr lang="ko-KR" altLang="en-US" sz="700" dirty="0" err="1">
                <a:latin typeface="Roboto" panose="020B0600000101010101" charset="0"/>
              </a:rPr>
              <a:t>챗봇이</a:t>
            </a:r>
            <a:r>
              <a:rPr lang="ko-KR" altLang="en-US" sz="700" dirty="0">
                <a:latin typeface="Roboto" panose="020B0600000101010101" charset="0"/>
              </a:rPr>
              <a:t> 상호작용하기 위해 정했던 표준에 맞게 응답을 변형하는 작업이다</a:t>
            </a:r>
            <a:r>
              <a:rPr lang="en-US" altLang="ko-KR" sz="700" dirty="0">
                <a:latin typeface="Roboto" panose="020B0600000101010101" charset="0"/>
              </a:rPr>
              <a:t>.</a:t>
            </a:r>
          </a:p>
          <a:p>
            <a:endParaRPr lang="en-US" altLang="ko-KR" sz="700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대표적으로 </a:t>
            </a:r>
            <a:r>
              <a:rPr lang="ko-KR" altLang="en-US" sz="700" dirty="0" err="1">
                <a:latin typeface="Roboto" panose="020B0600000101010101" charset="0"/>
              </a:rPr>
              <a:t>챗봇</a:t>
            </a:r>
            <a:r>
              <a:rPr lang="ko-KR" altLang="en-US" sz="700" dirty="0">
                <a:latin typeface="Roboto" panose="020B0600000101010101" charset="0"/>
              </a:rPr>
              <a:t> 응답으로 </a:t>
            </a:r>
            <a:r>
              <a:rPr lang="en-US" altLang="ko-KR" sz="700" dirty="0">
                <a:latin typeface="Roboto" panose="020B0600000101010101" charset="0"/>
              </a:rPr>
              <a:t>event tag</a:t>
            </a:r>
            <a:r>
              <a:rPr lang="ko-KR" altLang="en-US" sz="700" dirty="0">
                <a:latin typeface="Roboto" panose="020B0600000101010101" charset="0"/>
              </a:rPr>
              <a:t>를 전송한다</a:t>
            </a:r>
            <a:r>
              <a:rPr lang="en-US" altLang="ko-KR" sz="700" dirty="0">
                <a:latin typeface="Roboto" panose="020B0600000101010101" charset="0"/>
              </a:rPr>
              <a:t>. </a:t>
            </a:r>
          </a:p>
          <a:p>
            <a:r>
              <a:rPr lang="ko-KR" altLang="en-US" sz="700" dirty="0">
                <a:latin typeface="Roboto" panose="020B0600000101010101" charset="0"/>
              </a:rPr>
              <a:t>예를 들어</a:t>
            </a:r>
            <a:r>
              <a:rPr lang="en-US" altLang="ko-KR" sz="700" dirty="0">
                <a:latin typeface="Roboto" panose="020B0600000101010101" charset="0"/>
              </a:rPr>
              <a:t>, CS </a:t>
            </a:r>
            <a:r>
              <a:rPr lang="ko-KR" altLang="en-US" sz="700" dirty="0">
                <a:latin typeface="Roboto" panose="020B0600000101010101" charset="0"/>
              </a:rPr>
              <a:t>태그가 있는데</a:t>
            </a:r>
            <a:r>
              <a:rPr lang="en-US" altLang="ko-KR" sz="700" dirty="0">
                <a:latin typeface="Roboto" panose="020B0600000101010101" charset="0"/>
              </a:rPr>
              <a:t> </a:t>
            </a:r>
            <a:r>
              <a:rPr lang="ko-KR" altLang="en-US" sz="700" dirty="0">
                <a:latin typeface="Roboto" panose="020B0600000101010101" charset="0"/>
              </a:rPr>
              <a:t>이 태그를 전송하면 중계 서버에서는 </a:t>
            </a:r>
            <a:r>
              <a:rPr lang="ko-KR" altLang="en-US" sz="700" dirty="0" err="1">
                <a:latin typeface="Roboto" panose="020B0600000101010101" charset="0"/>
              </a:rPr>
              <a:t>챗봇</a:t>
            </a:r>
            <a:r>
              <a:rPr lang="ko-KR" altLang="en-US" sz="700" dirty="0">
                <a:latin typeface="Roboto" panose="020B0600000101010101" charset="0"/>
              </a:rPr>
              <a:t> 서버와는 더 이상 통신하지 않고 </a:t>
            </a:r>
            <a:endParaRPr lang="en-US" altLang="ko-KR" sz="700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사용자 </a:t>
            </a:r>
            <a:r>
              <a:rPr lang="en-US" altLang="ko-KR" sz="700" dirty="0">
                <a:latin typeface="Roboto" panose="020B0600000101010101" charset="0"/>
              </a:rPr>
              <a:t>– </a:t>
            </a:r>
            <a:r>
              <a:rPr lang="ko-KR" altLang="en-US" sz="700" dirty="0">
                <a:latin typeface="Roboto" panose="020B0600000101010101" charset="0"/>
              </a:rPr>
              <a:t>중계 서버 </a:t>
            </a:r>
            <a:r>
              <a:rPr lang="en-US" altLang="ko-KR" sz="700" dirty="0">
                <a:latin typeface="Roboto" panose="020B0600000101010101" charset="0"/>
              </a:rPr>
              <a:t>– Zendesk</a:t>
            </a:r>
            <a:r>
              <a:rPr lang="ko-KR" altLang="en-US" sz="700" dirty="0">
                <a:latin typeface="Roboto" panose="020B0600000101010101" charset="0"/>
              </a:rPr>
              <a:t>와 연결한다</a:t>
            </a:r>
            <a:r>
              <a:rPr lang="en-US" altLang="ko-KR" sz="700" dirty="0">
                <a:latin typeface="Roboto" panose="020B0600000101010101" charset="0"/>
              </a:rPr>
              <a:t>. </a:t>
            </a:r>
          </a:p>
          <a:p>
            <a:endParaRPr lang="en-US" altLang="ko-KR" sz="700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다른 작업은</a:t>
            </a:r>
            <a:r>
              <a:rPr lang="en-US" altLang="ko-KR" sz="700" dirty="0">
                <a:latin typeface="Roboto" panose="020B0600000101010101" charset="0"/>
              </a:rPr>
              <a:t> web </a:t>
            </a:r>
            <a:r>
              <a:rPr lang="ko-KR" altLang="en-US" sz="700" dirty="0" err="1">
                <a:latin typeface="Roboto" panose="020B0600000101010101" charset="0"/>
              </a:rPr>
              <a:t>챗봇에서</a:t>
            </a:r>
            <a:r>
              <a:rPr lang="ko-KR" altLang="en-US" sz="700" dirty="0">
                <a:latin typeface="Roboto" panose="020B0600000101010101" charset="0"/>
              </a:rPr>
              <a:t> 팝업을 위해 응답으로 지정했던 링크를 </a:t>
            </a:r>
            <a:r>
              <a:rPr lang="en-US" altLang="ko-KR" sz="700" dirty="0">
                <a:latin typeface="Roboto" panose="020B0600000101010101" charset="0"/>
              </a:rPr>
              <a:t>lg.com </a:t>
            </a:r>
            <a:r>
              <a:rPr lang="ko-KR" altLang="en-US" sz="700" dirty="0">
                <a:latin typeface="Roboto" panose="020B0600000101010101" charset="0"/>
              </a:rPr>
              <a:t>등의 다른 링크로의 변환시켜주는 작업이 있다</a:t>
            </a:r>
            <a:r>
              <a:rPr lang="en-US" altLang="ko-KR" sz="700" dirty="0">
                <a:latin typeface="Roboto" panose="020B0600000101010101" charset="0"/>
              </a:rPr>
              <a:t>.</a:t>
            </a:r>
          </a:p>
          <a:p>
            <a:r>
              <a:rPr lang="ko-KR" altLang="en-US" sz="700" dirty="0">
                <a:latin typeface="Roboto" panose="020B0600000101010101" charset="0"/>
              </a:rPr>
              <a:t>이는 </a:t>
            </a:r>
            <a:r>
              <a:rPr lang="en-US" altLang="ko-KR" sz="700" dirty="0" err="1">
                <a:latin typeface="Roboto" panose="020B0600000101010101" charset="0"/>
              </a:rPr>
              <a:t>whatsapp</a:t>
            </a:r>
            <a:r>
              <a:rPr lang="en-US" altLang="ko-KR" sz="700" dirty="0">
                <a:latin typeface="Roboto" panose="020B0600000101010101" charset="0"/>
              </a:rPr>
              <a:t> </a:t>
            </a:r>
            <a:r>
              <a:rPr lang="ko-KR" altLang="en-US" sz="700" dirty="0">
                <a:latin typeface="Roboto" panose="020B0600000101010101" charset="0"/>
              </a:rPr>
              <a:t>등에서는 팝업 기능이 동작하지 않기 때문이다</a:t>
            </a:r>
            <a:r>
              <a:rPr lang="en-US" altLang="ko-KR" sz="700" dirty="0">
                <a:latin typeface="Roboto" panose="020B0600000101010101" charset="0"/>
              </a:rPr>
              <a:t>.</a:t>
            </a:r>
            <a:endParaRPr lang="ko-KR" altLang="en-US" sz="800" dirty="0">
              <a:latin typeface="Roboto" panose="020B0600000101010101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p21"/>
          <p:cNvGrpSpPr/>
          <p:nvPr/>
        </p:nvGrpSpPr>
        <p:grpSpPr>
          <a:xfrm>
            <a:off x="3700961" y="1465337"/>
            <a:ext cx="449220" cy="673185"/>
            <a:chOff x="-758361" y="4526835"/>
            <a:chExt cx="572400" cy="809700"/>
          </a:xfrm>
        </p:grpSpPr>
        <p:sp>
          <p:nvSpPr>
            <p:cNvPr id="561" name="Google Shape;561;p21"/>
            <p:cNvSpPr/>
            <p:nvPr/>
          </p:nvSpPr>
          <p:spPr>
            <a:xfrm>
              <a:off x="-758361" y="4526835"/>
              <a:ext cx="572400" cy="8097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Relay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62" name="Google Shape;562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651852" y="4624803"/>
              <a:ext cx="359400" cy="32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3" name="Google Shape;563;p21"/>
          <p:cNvSpPr/>
          <p:nvPr/>
        </p:nvSpPr>
        <p:spPr>
          <a:xfrm>
            <a:off x="6800500" y="1576813"/>
            <a:ext cx="11178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Chatbot Agent</a:t>
            </a:r>
            <a:br>
              <a:rPr lang="ko" sz="7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DialogFlow</a:t>
            </a:r>
            <a:endParaRPr/>
          </a:p>
        </p:txBody>
      </p:sp>
      <p:pic>
        <p:nvPicPr>
          <p:cNvPr id="564" name="Google Shape;56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4751" y="1606411"/>
            <a:ext cx="266779" cy="3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1"/>
          <p:cNvSpPr/>
          <p:nvPr/>
        </p:nvSpPr>
        <p:spPr>
          <a:xfrm>
            <a:off x="4943150" y="1588925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6" name="Google Shape;566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7616" y="1662810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7" name="Google Shape;567;p21"/>
          <p:cNvCxnSpPr/>
          <p:nvPr/>
        </p:nvCxnSpPr>
        <p:spPr>
          <a:xfrm flipH="1">
            <a:off x="5339475" y="2079938"/>
            <a:ext cx="900" cy="429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68" name="Google Shape;568;p21"/>
          <p:cNvSpPr/>
          <p:nvPr/>
        </p:nvSpPr>
        <p:spPr>
          <a:xfrm>
            <a:off x="4943150" y="2545125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9" name="Google Shape;56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5900" y="2618638"/>
            <a:ext cx="235125" cy="2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" name="Google Shape;570;p21"/>
          <p:cNvCxnSpPr/>
          <p:nvPr/>
        </p:nvCxnSpPr>
        <p:spPr>
          <a:xfrm>
            <a:off x="2997850" y="1743938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71" name="Google Shape;571;p21"/>
          <p:cNvGrpSpPr/>
          <p:nvPr/>
        </p:nvGrpSpPr>
        <p:grpSpPr>
          <a:xfrm>
            <a:off x="3190445" y="1694785"/>
            <a:ext cx="255300" cy="97427"/>
            <a:chOff x="1169632" y="4149135"/>
            <a:chExt cx="255300" cy="97427"/>
          </a:xfrm>
        </p:grpSpPr>
        <p:sp>
          <p:nvSpPr>
            <p:cNvPr id="572" name="Google Shape;572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3" name="Google Shape;573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74" name="Google Shape;574;p21"/>
          <p:cNvCxnSpPr/>
          <p:nvPr/>
        </p:nvCxnSpPr>
        <p:spPr>
          <a:xfrm rot="10800000">
            <a:off x="2995000" y="1860350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75" name="Google Shape;575;p21"/>
          <p:cNvGrpSpPr/>
          <p:nvPr/>
        </p:nvGrpSpPr>
        <p:grpSpPr>
          <a:xfrm>
            <a:off x="3190445" y="1811635"/>
            <a:ext cx="255300" cy="97427"/>
            <a:chOff x="1169632" y="4149135"/>
            <a:chExt cx="255300" cy="97427"/>
          </a:xfrm>
        </p:grpSpPr>
        <p:sp>
          <p:nvSpPr>
            <p:cNvPr id="576" name="Google Shape;576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78" name="Google Shape;578;p21"/>
          <p:cNvCxnSpPr/>
          <p:nvPr/>
        </p:nvCxnSpPr>
        <p:spPr>
          <a:xfrm>
            <a:off x="4209913" y="1743938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79" name="Google Shape;579;p21"/>
          <p:cNvGrpSpPr/>
          <p:nvPr/>
        </p:nvGrpSpPr>
        <p:grpSpPr>
          <a:xfrm>
            <a:off x="4402507" y="1694785"/>
            <a:ext cx="255300" cy="97427"/>
            <a:chOff x="1169632" y="4149135"/>
            <a:chExt cx="255300" cy="97427"/>
          </a:xfrm>
        </p:grpSpPr>
        <p:sp>
          <p:nvSpPr>
            <p:cNvPr id="580" name="Google Shape;580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1" name="Google Shape;581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82" name="Google Shape;582;p21"/>
          <p:cNvCxnSpPr/>
          <p:nvPr/>
        </p:nvCxnSpPr>
        <p:spPr>
          <a:xfrm rot="10800000">
            <a:off x="4207063" y="1860350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83" name="Google Shape;583;p21"/>
          <p:cNvGrpSpPr/>
          <p:nvPr/>
        </p:nvGrpSpPr>
        <p:grpSpPr>
          <a:xfrm>
            <a:off x="4402507" y="1811635"/>
            <a:ext cx="255300" cy="97427"/>
            <a:chOff x="1169632" y="4149135"/>
            <a:chExt cx="255300" cy="97427"/>
          </a:xfrm>
        </p:grpSpPr>
        <p:sp>
          <p:nvSpPr>
            <p:cNvPr id="584" name="Google Shape;584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5" name="Google Shape;585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86" name="Google Shape;586;p21"/>
          <p:cNvCxnSpPr/>
          <p:nvPr/>
        </p:nvCxnSpPr>
        <p:spPr>
          <a:xfrm>
            <a:off x="6070500" y="1722975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87" name="Google Shape;587;p21"/>
          <p:cNvGrpSpPr/>
          <p:nvPr/>
        </p:nvGrpSpPr>
        <p:grpSpPr>
          <a:xfrm>
            <a:off x="6263095" y="1673823"/>
            <a:ext cx="255300" cy="97427"/>
            <a:chOff x="1169632" y="4149135"/>
            <a:chExt cx="255300" cy="97427"/>
          </a:xfrm>
        </p:grpSpPr>
        <p:sp>
          <p:nvSpPr>
            <p:cNvPr id="588" name="Google Shape;588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9" name="Google Shape;589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90" name="Google Shape;590;p21"/>
          <p:cNvCxnSpPr/>
          <p:nvPr/>
        </p:nvCxnSpPr>
        <p:spPr>
          <a:xfrm rot="10800000">
            <a:off x="6067650" y="1839388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91" name="Google Shape;591;p21"/>
          <p:cNvGrpSpPr/>
          <p:nvPr/>
        </p:nvGrpSpPr>
        <p:grpSpPr>
          <a:xfrm>
            <a:off x="6263095" y="1790673"/>
            <a:ext cx="255300" cy="97427"/>
            <a:chOff x="1169632" y="4149135"/>
            <a:chExt cx="255300" cy="97427"/>
          </a:xfrm>
        </p:grpSpPr>
        <p:sp>
          <p:nvSpPr>
            <p:cNvPr id="592" name="Google Shape;592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4" name="Google Shape;594;p21"/>
          <p:cNvGrpSpPr/>
          <p:nvPr/>
        </p:nvGrpSpPr>
        <p:grpSpPr>
          <a:xfrm>
            <a:off x="5212270" y="2178435"/>
            <a:ext cx="255300" cy="97427"/>
            <a:chOff x="1169632" y="4149135"/>
            <a:chExt cx="255300" cy="97427"/>
          </a:xfrm>
        </p:grpSpPr>
        <p:sp>
          <p:nvSpPr>
            <p:cNvPr id="595" name="Google Shape;595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97" name="Google Shape;597;p21"/>
          <p:cNvSpPr/>
          <p:nvPr/>
        </p:nvSpPr>
        <p:spPr>
          <a:xfrm>
            <a:off x="1220656" y="3085908"/>
            <a:ext cx="4411217" cy="928976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 txBox="1"/>
          <p:nvPr/>
        </p:nvSpPr>
        <p:spPr>
          <a:xfrm>
            <a:off x="1334906" y="3191161"/>
            <a:ext cx="11178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채팅 event noti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2. Chat Intent 쿼리 (client id?)</a:t>
            </a:r>
            <a:endParaRPr lang="en-US" altLang="ko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lang="en-US" altLang="ko-KR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757575"/>
              </a:buClr>
            </a:pP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ko-KR" altLang="en-US" sz="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. Token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이 유효하지 않으면 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fail 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반환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session 갱신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21"/>
          <p:cNvSpPr txBox="1"/>
          <p:nvPr/>
        </p:nvSpPr>
        <p:spPr>
          <a:xfrm>
            <a:off x="2658181" y="3192061"/>
            <a:ext cx="12777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Chat Intent 쿼리 (session, query)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Chatbot Response  응답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6. Whatsapp Form으로 응답 가공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21"/>
          <p:cNvSpPr txBox="1"/>
          <p:nvPr/>
        </p:nvSpPr>
        <p:spPr>
          <a:xfrm>
            <a:off x="4141381" y="3184611"/>
            <a:ext cx="1413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8. Whatsapp 용 Response 응답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9. Response Component 추출, Zendesk 용 응답 생성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10. send Response message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1" name="Google Shape;601;p21"/>
          <p:cNvGrpSpPr/>
          <p:nvPr/>
        </p:nvGrpSpPr>
        <p:grpSpPr>
          <a:xfrm>
            <a:off x="1220656" y="1487813"/>
            <a:ext cx="502794" cy="628200"/>
            <a:chOff x="6052000" y="1261450"/>
            <a:chExt cx="466500" cy="628200"/>
          </a:xfrm>
        </p:grpSpPr>
        <p:sp>
          <p:nvSpPr>
            <p:cNvPr id="602" name="Google Shape;602;p21"/>
            <p:cNvSpPr/>
            <p:nvPr/>
          </p:nvSpPr>
          <p:spPr>
            <a:xfrm>
              <a:off x="6052000" y="1261450"/>
              <a:ext cx="466500" cy="628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Whatsapp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03" name="Google Shape;603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39546" y="1342175"/>
              <a:ext cx="281698" cy="28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4" name="Google Shape;604;p21"/>
          <p:cNvSpPr/>
          <p:nvPr/>
        </p:nvSpPr>
        <p:spPr>
          <a:xfrm>
            <a:off x="2466525" y="1570926"/>
            <a:ext cx="429900" cy="4620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5" name="Google Shape;60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16327" y="1675025"/>
            <a:ext cx="337800" cy="253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6" name="Google Shape;606;p21"/>
          <p:cNvCxnSpPr/>
          <p:nvPr/>
        </p:nvCxnSpPr>
        <p:spPr>
          <a:xfrm>
            <a:off x="1774738" y="176171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607" name="Google Shape;607;p21"/>
          <p:cNvGrpSpPr/>
          <p:nvPr/>
        </p:nvGrpSpPr>
        <p:grpSpPr>
          <a:xfrm>
            <a:off x="1967332" y="1712560"/>
            <a:ext cx="255300" cy="97427"/>
            <a:chOff x="1169632" y="4149135"/>
            <a:chExt cx="255300" cy="97427"/>
          </a:xfrm>
        </p:grpSpPr>
        <p:sp>
          <p:nvSpPr>
            <p:cNvPr id="608" name="Google Shape;608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10" name="Google Shape;610;p21"/>
          <p:cNvCxnSpPr/>
          <p:nvPr/>
        </p:nvCxnSpPr>
        <p:spPr>
          <a:xfrm rot="10800000">
            <a:off x="1771888" y="187812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cxnSp>
        <p:nvCxnSpPr>
          <p:cNvPr id="611" name="Google Shape;611;p21"/>
          <p:cNvCxnSpPr/>
          <p:nvPr/>
        </p:nvCxnSpPr>
        <p:spPr>
          <a:xfrm flipH="1">
            <a:off x="5403538" y="1922763"/>
            <a:ext cx="609000" cy="191100"/>
          </a:xfrm>
          <a:prstGeom prst="bentConnector4">
            <a:avLst>
              <a:gd name="adj1" fmla="val -23013"/>
              <a:gd name="adj2" fmla="val 17178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612" name="Google Shape;612;p21"/>
          <p:cNvGrpSpPr/>
          <p:nvPr/>
        </p:nvGrpSpPr>
        <p:grpSpPr>
          <a:xfrm>
            <a:off x="5974557" y="2149110"/>
            <a:ext cx="255300" cy="97427"/>
            <a:chOff x="1169632" y="4149135"/>
            <a:chExt cx="255300" cy="97427"/>
          </a:xfrm>
        </p:grpSpPr>
        <p:sp>
          <p:nvSpPr>
            <p:cNvPr id="613" name="Google Shape;613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5" name="Google Shape;615;p21"/>
          <p:cNvGrpSpPr/>
          <p:nvPr/>
        </p:nvGrpSpPr>
        <p:grpSpPr>
          <a:xfrm>
            <a:off x="1904640" y="1830575"/>
            <a:ext cx="380700" cy="95110"/>
            <a:chOff x="1107240" y="4149125"/>
            <a:chExt cx="380700" cy="95110"/>
          </a:xfrm>
        </p:grpSpPr>
        <p:sp>
          <p:nvSpPr>
            <p:cNvPr id="616" name="Google Shape;616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1107240" y="4149125"/>
              <a:ext cx="380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18" name="Google Shape;618;p21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. Chat_intent (질의시) 프로세스 </a:t>
            </a:r>
            <a:r>
              <a:rPr lang="ko" altLang="ko-KR" sz="1760" b="1" dirty="0">
                <a:latin typeface="Malgun Gothic"/>
                <a:ea typeface="Malgun Gothic"/>
                <a:cs typeface="Malgun Gothic"/>
                <a:sym typeface="Malgun Gothic"/>
              </a:rPr>
              <a:t>(WhatsApp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altLang="ko" sz="1760" b="1" dirty="0" err="1">
                <a:latin typeface="Malgun Gothic"/>
                <a:ea typeface="Malgun Gothic"/>
                <a:cs typeface="Malgun Gothic"/>
                <a:sym typeface="Malgun Gothic"/>
              </a:rPr>
              <a:t>twilio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-KR" altLang="en-US" sz="1760" b="1" dirty="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760" b="1" dirty="0"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r>
              <a:rPr lang="ko" altLang="ko-KR" sz="1760" b="1" dirty="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 – </a:t>
            </a:r>
            <a:r>
              <a:rPr lang="en-US" altLang="ko" sz="1760" b="1" dirty="0" err="1">
                <a:latin typeface="Malgun Gothic"/>
                <a:ea typeface="Malgun Gothic"/>
                <a:cs typeface="Malgun Gothic"/>
                <a:sym typeface="Malgun Gothic"/>
              </a:rPr>
              <a:t>Dialogflow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760" b="1" dirty="0">
                <a:latin typeface="Malgun Gothic"/>
                <a:ea typeface="Malgun Gothic"/>
                <a:cs typeface="Malgun Gothic"/>
                <a:sym typeface="Malgun Gothic"/>
              </a:rPr>
              <a:t>호출</a:t>
            </a:r>
            <a:endParaRPr sz="212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54478D-5BEC-49D5-A7EA-01FB51CF210B}"/>
              </a:ext>
            </a:extLst>
          </p:cNvPr>
          <p:cNvSpPr txBox="1"/>
          <p:nvPr/>
        </p:nvSpPr>
        <p:spPr>
          <a:xfrm>
            <a:off x="5851808" y="3029638"/>
            <a:ext cx="284032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 err="1">
                <a:latin typeface="Roboto" panose="020B0600000101010101" charset="0"/>
              </a:rPr>
              <a:t>Dialogflow</a:t>
            </a:r>
            <a:r>
              <a:rPr lang="en-US" altLang="ko-KR" sz="900" b="1" dirty="0">
                <a:latin typeface="Roboto" panose="020B0600000101010101" charset="0"/>
              </a:rPr>
              <a:t> </a:t>
            </a:r>
            <a:r>
              <a:rPr lang="ko-KR" altLang="en-US" sz="900" b="1" dirty="0">
                <a:latin typeface="Roboto" panose="020B0600000101010101" charset="0"/>
              </a:rPr>
              <a:t>호출 조건</a:t>
            </a:r>
            <a:endParaRPr lang="en-US" altLang="ko-KR" sz="900" b="1" dirty="0">
              <a:latin typeface="Roboto" panose="020B0600000101010101" charset="0"/>
            </a:endParaRPr>
          </a:p>
          <a:p>
            <a:endParaRPr lang="en-US" altLang="ko-KR" sz="900" b="1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r>
              <a:rPr lang="en-US" altLang="ko-KR" sz="700" dirty="0">
                <a:latin typeface="Roboto" panose="020B0600000101010101" charset="0"/>
              </a:rPr>
              <a:t>Default Welcome Intent</a:t>
            </a:r>
            <a:r>
              <a:rPr lang="ko-KR" altLang="en-US" sz="700" dirty="0">
                <a:latin typeface="Roboto" panose="020B0600000101010101" charset="0"/>
              </a:rPr>
              <a:t>가 </a:t>
            </a:r>
            <a:r>
              <a:rPr lang="ko-KR" altLang="en-US" sz="700" dirty="0" err="1">
                <a:latin typeface="Roboto" panose="020B0600000101010101" charset="0"/>
              </a:rPr>
              <a:t>매핑되었을</a:t>
            </a:r>
            <a:r>
              <a:rPr lang="ko-KR" altLang="en-US" sz="700" dirty="0">
                <a:latin typeface="Roboto" panose="020B0600000101010101" charset="0"/>
              </a:rPr>
              <a:t> 때부터 지금까지 사용자가 법인이 지정한 제품군을 선택하지 않았을 때</a:t>
            </a: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r>
              <a:rPr lang="en-US" altLang="ko-KR" sz="700" dirty="0">
                <a:latin typeface="Roboto" panose="020B0600000101010101" charset="0"/>
              </a:rPr>
              <a:t>GPT </a:t>
            </a:r>
            <a:r>
              <a:rPr lang="ko-KR" altLang="en-US" sz="700" dirty="0">
                <a:latin typeface="Roboto" panose="020B0600000101010101" charset="0"/>
              </a:rPr>
              <a:t>연결 중 이전 </a:t>
            </a:r>
            <a:r>
              <a:rPr lang="en-US" altLang="ko-KR" sz="700" dirty="0">
                <a:latin typeface="Roboto" panose="020B0600000101010101" charset="0"/>
              </a:rPr>
              <a:t>suggestion</a:t>
            </a:r>
            <a:r>
              <a:rPr lang="ko-KR" altLang="en-US" sz="700" dirty="0">
                <a:latin typeface="Roboto" panose="020B0600000101010101" charset="0"/>
              </a:rPr>
              <a:t>의</a:t>
            </a:r>
            <a:r>
              <a:rPr lang="en-US" altLang="ko-KR" sz="700" dirty="0">
                <a:latin typeface="Roboto" panose="020B0600000101010101" charset="0"/>
              </a:rPr>
              <a:t> </a:t>
            </a:r>
            <a:r>
              <a:rPr lang="ko-KR" altLang="en-US" sz="700" dirty="0">
                <a:latin typeface="Roboto" panose="020B0600000101010101" charset="0"/>
              </a:rPr>
              <a:t>인덱스 </a:t>
            </a:r>
            <a:r>
              <a:rPr lang="en-US" altLang="ko-KR" sz="700" dirty="0">
                <a:latin typeface="Roboto" panose="020B0600000101010101" charset="0"/>
              </a:rPr>
              <a:t>(1, 2, ..) </a:t>
            </a:r>
            <a:r>
              <a:rPr lang="ko-KR" altLang="en-US" sz="700" dirty="0">
                <a:latin typeface="Roboto" panose="020B0600000101010101" charset="0"/>
              </a:rPr>
              <a:t>혹은 </a:t>
            </a:r>
            <a:r>
              <a:rPr lang="en-US" altLang="ko-KR" sz="700" dirty="0">
                <a:latin typeface="Roboto" panose="020B0600000101010101" charset="0"/>
              </a:rPr>
              <a:t>text</a:t>
            </a:r>
            <a:r>
              <a:rPr lang="ko-KR" altLang="en-US" sz="700" dirty="0">
                <a:latin typeface="Roboto" panose="020B0600000101010101" charset="0"/>
              </a:rPr>
              <a:t>를 동일하게 입력하였을 때</a:t>
            </a: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r>
              <a:rPr lang="en-US" altLang="ko-KR" sz="700" dirty="0">
                <a:latin typeface="Roboto" panose="020B0600000101010101" charset="0"/>
              </a:rPr>
              <a:t>GPT </a:t>
            </a:r>
            <a:r>
              <a:rPr lang="ko-KR" altLang="en-US" sz="700" dirty="0">
                <a:latin typeface="Roboto" panose="020B0600000101010101" charset="0"/>
              </a:rPr>
              <a:t>연결 중 </a:t>
            </a:r>
            <a:r>
              <a:rPr lang="en-US" altLang="ko-KR" sz="700" dirty="0" err="1">
                <a:latin typeface="Roboto" panose="020B0600000101010101" charset="0"/>
              </a:rPr>
              <a:t>Int_QoS</a:t>
            </a:r>
            <a:r>
              <a:rPr lang="en-US" altLang="ko-KR" sz="700" dirty="0">
                <a:latin typeface="Roboto" panose="020B0600000101010101" charset="0"/>
              </a:rPr>
              <a:t> </a:t>
            </a:r>
            <a:r>
              <a:rPr lang="ko-KR" altLang="en-US" sz="700" dirty="0">
                <a:latin typeface="Roboto" panose="020B0600000101010101" charset="0"/>
              </a:rPr>
              <a:t>인텐트의 </a:t>
            </a:r>
            <a:r>
              <a:rPr lang="en-US" altLang="ko-KR" sz="700" dirty="0">
                <a:latin typeface="Roboto" panose="020B0600000101010101" charset="0"/>
              </a:rPr>
              <a:t>training phrase</a:t>
            </a:r>
            <a:r>
              <a:rPr lang="ko-KR" altLang="en-US" sz="700" dirty="0">
                <a:latin typeface="Roboto" panose="020B0600000101010101" charset="0"/>
              </a:rPr>
              <a:t>를 입력했을 때</a:t>
            </a: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r>
              <a:rPr lang="en-US" altLang="ko-KR" sz="700" dirty="0">
                <a:latin typeface="Roboto" panose="020B0600000101010101" charset="0"/>
              </a:rPr>
              <a:t>GPT </a:t>
            </a:r>
            <a:r>
              <a:rPr lang="ko-KR" altLang="en-US" sz="700" dirty="0">
                <a:latin typeface="Roboto" panose="020B0600000101010101" charset="0"/>
              </a:rPr>
              <a:t>연결 중 </a:t>
            </a:r>
            <a:r>
              <a:rPr lang="en-US" altLang="ko-KR" sz="700" dirty="0">
                <a:latin typeface="Roboto" panose="020B0600000101010101" charset="0"/>
              </a:rPr>
              <a:t>Home word </a:t>
            </a:r>
            <a:r>
              <a:rPr lang="ko-KR" altLang="en-US" sz="700" dirty="0">
                <a:latin typeface="Roboto" panose="020B0600000101010101" charset="0"/>
              </a:rPr>
              <a:t>입력 시 </a:t>
            </a: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r>
              <a:rPr lang="en-US" altLang="ko-KR" sz="700" dirty="0">
                <a:latin typeface="Roboto" panose="020B0600000101010101" charset="0"/>
              </a:rPr>
              <a:t>Survey </a:t>
            </a:r>
            <a:r>
              <a:rPr lang="ko-KR" altLang="en-US" sz="700" dirty="0">
                <a:latin typeface="Roboto" panose="020B0600000101010101" charset="0"/>
              </a:rPr>
              <a:t>중일 때</a:t>
            </a: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endParaRPr lang="en-US" altLang="ko-KR" sz="700" dirty="0">
              <a:latin typeface="Roboto" panose="020B0600000101010101" charset="0"/>
            </a:endParaRPr>
          </a:p>
          <a:p>
            <a:r>
              <a:rPr lang="en-US" altLang="ko-KR" sz="700" dirty="0">
                <a:latin typeface="Roboto" panose="020B0600000101010101" charset="0"/>
              </a:rPr>
              <a:t>** Home word</a:t>
            </a:r>
            <a:r>
              <a:rPr lang="ko-KR" altLang="en-US" sz="700" dirty="0">
                <a:latin typeface="Roboto" panose="020B0600000101010101" charset="0"/>
              </a:rPr>
              <a:t>는 좌측 하단의 버튼의 </a:t>
            </a:r>
            <a:r>
              <a:rPr lang="ko-KR" altLang="en-US" sz="700" dirty="0" err="1">
                <a:latin typeface="Roboto" panose="020B0600000101010101" charset="0"/>
              </a:rPr>
              <a:t>질의문</a:t>
            </a: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endParaRPr lang="en-US" altLang="ko-KR" sz="700" dirty="0">
              <a:latin typeface="Roboto" panose="020B0600000101010101" charset="0"/>
            </a:endParaRPr>
          </a:p>
          <a:p>
            <a:pPr marL="228600" indent="-228600">
              <a:buAutoNum type="arabicParenR"/>
            </a:pPr>
            <a:endParaRPr lang="en-US" altLang="ko-KR" sz="700" dirty="0">
              <a:latin typeface="Roboto" panose="020B0600000101010101" charset="0"/>
            </a:endParaRPr>
          </a:p>
          <a:p>
            <a:endParaRPr lang="en-US" altLang="ko-KR" sz="700" dirty="0">
              <a:latin typeface="Roboto" panose="020B0600000101010101" charset="0"/>
            </a:endParaRPr>
          </a:p>
          <a:p>
            <a:endParaRPr lang="en-US" altLang="ko-KR" sz="700" dirty="0">
              <a:latin typeface="Roboto" panose="020B0600000101010101" charset="0"/>
            </a:endParaRPr>
          </a:p>
        </p:txBody>
      </p:sp>
      <p:cxnSp>
        <p:nvCxnSpPr>
          <p:cNvPr id="62" name="Google Shape;460;p19">
            <a:extLst>
              <a:ext uri="{FF2B5EF4-FFF2-40B4-BE49-F238E27FC236}">
                <a16:creationId xmlns:a16="http://schemas.microsoft.com/office/drawing/2014/main" id="{AF978AA5-D9C9-460E-8323-B6A5D2AAEB1D}"/>
              </a:ext>
            </a:extLst>
          </p:cNvPr>
          <p:cNvCxnSpPr>
            <a:cxnSpLocks/>
          </p:cNvCxnSpPr>
          <p:nvPr/>
        </p:nvCxnSpPr>
        <p:spPr>
          <a:xfrm flipH="1">
            <a:off x="4181667" y="1630645"/>
            <a:ext cx="649971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63" name="Google Shape;457;p19">
            <a:extLst>
              <a:ext uri="{FF2B5EF4-FFF2-40B4-BE49-F238E27FC236}">
                <a16:creationId xmlns:a16="http://schemas.microsoft.com/office/drawing/2014/main" id="{120C6985-79DD-4969-B44F-4E973A0BBF56}"/>
              </a:ext>
            </a:extLst>
          </p:cNvPr>
          <p:cNvGrpSpPr/>
          <p:nvPr/>
        </p:nvGrpSpPr>
        <p:grpSpPr>
          <a:xfrm>
            <a:off x="4409350" y="1568966"/>
            <a:ext cx="288432" cy="110174"/>
            <a:chOff x="1169632" y="4149135"/>
            <a:chExt cx="255300" cy="97427"/>
          </a:xfrm>
        </p:grpSpPr>
        <p:sp>
          <p:nvSpPr>
            <p:cNvPr id="64" name="Google Shape;458;p19">
              <a:extLst>
                <a:ext uri="{FF2B5EF4-FFF2-40B4-BE49-F238E27FC236}">
                  <a16:creationId xmlns:a16="http://schemas.microsoft.com/office/drawing/2014/main" id="{FE2D4D14-7A09-4291-B228-C4B8AB086399}"/>
                </a:ext>
              </a:extLst>
            </p:cNvPr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" name="Google Shape;459;p19">
              <a:extLst>
                <a:ext uri="{FF2B5EF4-FFF2-40B4-BE49-F238E27FC236}">
                  <a16:creationId xmlns:a16="http://schemas.microsoft.com/office/drawing/2014/main" id="{2DE2EEA7-5957-4248-A3AF-F9315F40ACA0}"/>
                </a:ext>
              </a:extLst>
            </p:cNvPr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altLang="ko" sz="6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lang="en-US" altLang="ko" sz="600" dirty="0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*</a:t>
              </a:r>
              <a:endParaRPr sz="600" b="0" i="0" u="none" strike="noStrike" cap="none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p21"/>
          <p:cNvGrpSpPr/>
          <p:nvPr/>
        </p:nvGrpSpPr>
        <p:grpSpPr>
          <a:xfrm>
            <a:off x="3700961" y="1465337"/>
            <a:ext cx="449220" cy="673185"/>
            <a:chOff x="-758361" y="4526835"/>
            <a:chExt cx="572400" cy="809700"/>
          </a:xfrm>
        </p:grpSpPr>
        <p:sp>
          <p:nvSpPr>
            <p:cNvPr id="561" name="Google Shape;561;p21"/>
            <p:cNvSpPr/>
            <p:nvPr/>
          </p:nvSpPr>
          <p:spPr>
            <a:xfrm>
              <a:off x="-758361" y="4526835"/>
              <a:ext cx="572400" cy="8097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Relay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562" name="Google Shape;562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651852" y="4624803"/>
              <a:ext cx="359400" cy="32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21"/>
          <p:cNvSpPr/>
          <p:nvPr/>
        </p:nvSpPr>
        <p:spPr>
          <a:xfrm>
            <a:off x="4943150" y="1588925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6" name="Google Shape;56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7616" y="1662810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7" name="Google Shape;567;p21"/>
          <p:cNvCxnSpPr/>
          <p:nvPr/>
        </p:nvCxnSpPr>
        <p:spPr>
          <a:xfrm flipH="1">
            <a:off x="5339475" y="2079938"/>
            <a:ext cx="900" cy="429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568" name="Google Shape;568;p21"/>
          <p:cNvSpPr/>
          <p:nvPr/>
        </p:nvSpPr>
        <p:spPr>
          <a:xfrm>
            <a:off x="4943150" y="2545125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9" name="Google Shape;56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5900" y="2618638"/>
            <a:ext cx="235125" cy="2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" name="Google Shape;570;p21"/>
          <p:cNvCxnSpPr/>
          <p:nvPr/>
        </p:nvCxnSpPr>
        <p:spPr>
          <a:xfrm>
            <a:off x="2997850" y="1743938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71" name="Google Shape;571;p21"/>
          <p:cNvGrpSpPr/>
          <p:nvPr/>
        </p:nvGrpSpPr>
        <p:grpSpPr>
          <a:xfrm>
            <a:off x="3190445" y="1694785"/>
            <a:ext cx="255300" cy="97427"/>
            <a:chOff x="1169632" y="4149135"/>
            <a:chExt cx="255300" cy="97427"/>
          </a:xfrm>
        </p:grpSpPr>
        <p:sp>
          <p:nvSpPr>
            <p:cNvPr id="572" name="Google Shape;572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3" name="Google Shape;573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74" name="Google Shape;574;p21"/>
          <p:cNvCxnSpPr/>
          <p:nvPr/>
        </p:nvCxnSpPr>
        <p:spPr>
          <a:xfrm rot="10800000">
            <a:off x="2995000" y="1860350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75" name="Google Shape;575;p21"/>
          <p:cNvGrpSpPr/>
          <p:nvPr/>
        </p:nvGrpSpPr>
        <p:grpSpPr>
          <a:xfrm>
            <a:off x="3190445" y="1811635"/>
            <a:ext cx="255300" cy="97427"/>
            <a:chOff x="1169632" y="4149135"/>
            <a:chExt cx="255300" cy="97427"/>
          </a:xfrm>
        </p:grpSpPr>
        <p:sp>
          <p:nvSpPr>
            <p:cNvPr id="576" name="Google Shape;576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78" name="Google Shape;578;p21"/>
          <p:cNvCxnSpPr/>
          <p:nvPr/>
        </p:nvCxnSpPr>
        <p:spPr>
          <a:xfrm>
            <a:off x="4209913" y="1743938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79" name="Google Shape;579;p21"/>
          <p:cNvGrpSpPr/>
          <p:nvPr/>
        </p:nvGrpSpPr>
        <p:grpSpPr>
          <a:xfrm>
            <a:off x="4402507" y="1694785"/>
            <a:ext cx="255300" cy="97427"/>
            <a:chOff x="1169632" y="4149135"/>
            <a:chExt cx="255300" cy="97427"/>
          </a:xfrm>
        </p:grpSpPr>
        <p:sp>
          <p:nvSpPr>
            <p:cNvPr id="580" name="Google Shape;580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1" name="Google Shape;581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82" name="Google Shape;582;p21"/>
          <p:cNvCxnSpPr/>
          <p:nvPr/>
        </p:nvCxnSpPr>
        <p:spPr>
          <a:xfrm rot="10800000">
            <a:off x="4207063" y="1860350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83" name="Google Shape;583;p21"/>
          <p:cNvGrpSpPr/>
          <p:nvPr/>
        </p:nvGrpSpPr>
        <p:grpSpPr>
          <a:xfrm>
            <a:off x="4402507" y="1811635"/>
            <a:ext cx="255300" cy="97427"/>
            <a:chOff x="1169632" y="4149135"/>
            <a:chExt cx="255300" cy="97427"/>
          </a:xfrm>
        </p:grpSpPr>
        <p:sp>
          <p:nvSpPr>
            <p:cNvPr id="584" name="Google Shape;584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5" name="Google Shape;585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86" name="Google Shape;586;p21"/>
          <p:cNvCxnSpPr/>
          <p:nvPr/>
        </p:nvCxnSpPr>
        <p:spPr>
          <a:xfrm>
            <a:off x="6070500" y="1722975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587" name="Google Shape;587;p21"/>
          <p:cNvGrpSpPr/>
          <p:nvPr/>
        </p:nvGrpSpPr>
        <p:grpSpPr>
          <a:xfrm>
            <a:off x="6263095" y="1673823"/>
            <a:ext cx="255300" cy="97427"/>
            <a:chOff x="1169632" y="4149135"/>
            <a:chExt cx="255300" cy="97427"/>
          </a:xfrm>
        </p:grpSpPr>
        <p:sp>
          <p:nvSpPr>
            <p:cNvPr id="588" name="Google Shape;588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9" name="Google Shape;589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590" name="Google Shape;590;p21"/>
          <p:cNvCxnSpPr/>
          <p:nvPr/>
        </p:nvCxnSpPr>
        <p:spPr>
          <a:xfrm rot="10800000">
            <a:off x="6067650" y="1839388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591" name="Google Shape;591;p21"/>
          <p:cNvGrpSpPr/>
          <p:nvPr/>
        </p:nvGrpSpPr>
        <p:grpSpPr>
          <a:xfrm>
            <a:off x="6263095" y="1790673"/>
            <a:ext cx="255300" cy="97427"/>
            <a:chOff x="1169632" y="4149135"/>
            <a:chExt cx="255300" cy="97427"/>
          </a:xfrm>
        </p:grpSpPr>
        <p:sp>
          <p:nvSpPr>
            <p:cNvPr id="592" name="Google Shape;592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94" name="Google Shape;594;p21"/>
          <p:cNvGrpSpPr/>
          <p:nvPr/>
        </p:nvGrpSpPr>
        <p:grpSpPr>
          <a:xfrm>
            <a:off x="5212270" y="2178435"/>
            <a:ext cx="255300" cy="97427"/>
            <a:chOff x="1169632" y="4149135"/>
            <a:chExt cx="255300" cy="97427"/>
          </a:xfrm>
        </p:grpSpPr>
        <p:sp>
          <p:nvSpPr>
            <p:cNvPr id="595" name="Google Shape;595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97" name="Google Shape;597;p21"/>
          <p:cNvSpPr/>
          <p:nvPr/>
        </p:nvSpPr>
        <p:spPr>
          <a:xfrm>
            <a:off x="1220656" y="3085908"/>
            <a:ext cx="4411217" cy="928976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 txBox="1"/>
          <p:nvPr/>
        </p:nvSpPr>
        <p:spPr>
          <a:xfrm>
            <a:off x="1334906" y="3191161"/>
            <a:ext cx="11178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채팅 event noti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2. Chat Intent 쿼리 (client id?)</a:t>
            </a:r>
            <a:endParaRPr lang="en-US" altLang="ko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lang="en-US" altLang="ko-KR"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buClr>
                <a:srgbClr val="757575"/>
              </a:buClr>
            </a:pP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ko-KR" altLang="en-US" sz="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*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. Token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이 유효하지 않으면 </a:t>
            </a:r>
            <a:r>
              <a:rPr lang="en-US" altLang="ko-KR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fail </a:t>
            </a:r>
            <a:r>
              <a:rPr lang="ko-KR" altLang="en-US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반환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session 갱신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21"/>
          <p:cNvSpPr txBox="1"/>
          <p:nvPr/>
        </p:nvSpPr>
        <p:spPr>
          <a:xfrm>
            <a:off x="2658181" y="3192061"/>
            <a:ext cx="12777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Chat Intent 쿼리 (session, query)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Chatbot Response  응답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6. Whatsapp Form으로 응답 가공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21"/>
          <p:cNvSpPr txBox="1"/>
          <p:nvPr/>
        </p:nvSpPr>
        <p:spPr>
          <a:xfrm>
            <a:off x="4141381" y="3184611"/>
            <a:ext cx="1413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8. Whatsapp 용 Response 응답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9. Response Component 추출, Zendesk 용 응답 생성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10. send Response message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01" name="Google Shape;601;p21"/>
          <p:cNvGrpSpPr/>
          <p:nvPr/>
        </p:nvGrpSpPr>
        <p:grpSpPr>
          <a:xfrm>
            <a:off x="1220656" y="1487813"/>
            <a:ext cx="502794" cy="628200"/>
            <a:chOff x="6052000" y="1261450"/>
            <a:chExt cx="466500" cy="628200"/>
          </a:xfrm>
        </p:grpSpPr>
        <p:sp>
          <p:nvSpPr>
            <p:cNvPr id="602" name="Google Shape;602;p21"/>
            <p:cNvSpPr/>
            <p:nvPr/>
          </p:nvSpPr>
          <p:spPr>
            <a:xfrm>
              <a:off x="6052000" y="1261450"/>
              <a:ext cx="466500" cy="628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Whatsapp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03" name="Google Shape;603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39546" y="1342175"/>
              <a:ext cx="281698" cy="28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4" name="Google Shape;604;p21"/>
          <p:cNvSpPr/>
          <p:nvPr/>
        </p:nvSpPr>
        <p:spPr>
          <a:xfrm>
            <a:off x="2466525" y="1570926"/>
            <a:ext cx="429900" cy="4620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5" name="Google Shape;60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16327" y="1675025"/>
            <a:ext cx="337800" cy="253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6" name="Google Shape;606;p21"/>
          <p:cNvCxnSpPr/>
          <p:nvPr/>
        </p:nvCxnSpPr>
        <p:spPr>
          <a:xfrm>
            <a:off x="1774738" y="1761713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607" name="Google Shape;607;p21"/>
          <p:cNvGrpSpPr/>
          <p:nvPr/>
        </p:nvGrpSpPr>
        <p:grpSpPr>
          <a:xfrm>
            <a:off x="1967332" y="1712560"/>
            <a:ext cx="255300" cy="97427"/>
            <a:chOff x="1169632" y="4149135"/>
            <a:chExt cx="255300" cy="97427"/>
          </a:xfrm>
        </p:grpSpPr>
        <p:sp>
          <p:nvSpPr>
            <p:cNvPr id="608" name="Google Shape;608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9" name="Google Shape;609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610" name="Google Shape;610;p21"/>
          <p:cNvCxnSpPr/>
          <p:nvPr/>
        </p:nvCxnSpPr>
        <p:spPr>
          <a:xfrm rot="10800000">
            <a:off x="1771888" y="1878125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cxnSp>
        <p:nvCxnSpPr>
          <p:cNvPr id="611" name="Google Shape;611;p21"/>
          <p:cNvCxnSpPr/>
          <p:nvPr/>
        </p:nvCxnSpPr>
        <p:spPr>
          <a:xfrm flipH="1">
            <a:off x="5403538" y="1922763"/>
            <a:ext cx="609000" cy="191100"/>
          </a:xfrm>
          <a:prstGeom prst="bentConnector4">
            <a:avLst>
              <a:gd name="adj1" fmla="val -23013"/>
              <a:gd name="adj2" fmla="val 17178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612" name="Google Shape;612;p21"/>
          <p:cNvGrpSpPr/>
          <p:nvPr/>
        </p:nvGrpSpPr>
        <p:grpSpPr>
          <a:xfrm>
            <a:off x="5974557" y="2149110"/>
            <a:ext cx="255300" cy="97427"/>
            <a:chOff x="1169632" y="4149135"/>
            <a:chExt cx="255300" cy="97427"/>
          </a:xfrm>
        </p:grpSpPr>
        <p:sp>
          <p:nvSpPr>
            <p:cNvPr id="613" name="Google Shape;613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15" name="Google Shape;615;p21"/>
          <p:cNvGrpSpPr/>
          <p:nvPr/>
        </p:nvGrpSpPr>
        <p:grpSpPr>
          <a:xfrm>
            <a:off x="1904640" y="1830575"/>
            <a:ext cx="380700" cy="95110"/>
            <a:chOff x="1107240" y="4149125"/>
            <a:chExt cx="380700" cy="95110"/>
          </a:xfrm>
        </p:grpSpPr>
        <p:sp>
          <p:nvSpPr>
            <p:cNvPr id="616" name="Google Shape;616;p21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1107240" y="4149125"/>
              <a:ext cx="3807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18" name="Google Shape;618;p21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" sz="1760" b="1" dirty="0">
                <a:latin typeface="Malgun Gothic"/>
                <a:ea typeface="Malgun Gothic"/>
                <a:cs typeface="Malgun Gothic"/>
                <a:sym typeface="Malgun Gothic"/>
              </a:rPr>
              <a:t>. Chat_intent (질의시) 프로세스 </a:t>
            </a:r>
            <a:r>
              <a:rPr lang="ko" altLang="ko-KR" sz="1760" b="1" dirty="0">
                <a:latin typeface="Malgun Gothic"/>
                <a:ea typeface="Malgun Gothic"/>
                <a:cs typeface="Malgun Gothic"/>
                <a:sym typeface="Malgun Gothic"/>
              </a:rPr>
              <a:t>(WhatsApp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altLang="ko" sz="1760" b="1" dirty="0" err="1">
                <a:latin typeface="Malgun Gothic"/>
                <a:ea typeface="Malgun Gothic"/>
                <a:cs typeface="Malgun Gothic"/>
                <a:sym typeface="Malgun Gothic"/>
              </a:rPr>
              <a:t>twilio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,</a:t>
            </a:r>
            <a:r>
              <a:rPr lang="ko-KR" altLang="en-US" sz="1760" b="1" dirty="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760" b="1" dirty="0">
                <a:latin typeface="Malgun Gothic"/>
                <a:ea typeface="Malgun Gothic"/>
                <a:cs typeface="Malgun Gothic"/>
                <a:sym typeface="Malgun Gothic"/>
              </a:rPr>
              <a:t>…</a:t>
            </a:r>
            <a:r>
              <a:rPr lang="ko" altLang="ko-KR" sz="1760" b="1" dirty="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en-US" altLang="ko" sz="1760" b="1" dirty="0">
                <a:latin typeface="Malgun Gothic"/>
                <a:ea typeface="Malgun Gothic"/>
                <a:cs typeface="Malgun Gothic"/>
                <a:sym typeface="Malgun Gothic"/>
              </a:rPr>
              <a:t> – GPT </a:t>
            </a:r>
            <a:r>
              <a:rPr lang="ko-KR" altLang="en-US" sz="1760" b="1" dirty="0">
                <a:latin typeface="Malgun Gothic"/>
                <a:ea typeface="Malgun Gothic"/>
                <a:cs typeface="Malgun Gothic"/>
                <a:sym typeface="Malgun Gothic"/>
              </a:rPr>
              <a:t>연결</a:t>
            </a:r>
            <a:endParaRPr sz="212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54478D-5BEC-49D5-A7EA-01FB51CF210B}"/>
              </a:ext>
            </a:extLst>
          </p:cNvPr>
          <p:cNvSpPr txBox="1"/>
          <p:nvPr/>
        </p:nvSpPr>
        <p:spPr>
          <a:xfrm>
            <a:off x="5851808" y="3029638"/>
            <a:ext cx="2840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Roboto" panose="020B0600000101010101" charset="0"/>
              </a:rPr>
              <a:t>GPT </a:t>
            </a:r>
            <a:r>
              <a:rPr lang="ko-KR" altLang="en-US" sz="900" b="1" dirty="0">
                <a:latin typeface="Roboto" panose="020B0600000101010101" charset="0"/>
              </a:rPr>
              <a:t>호출 조건</a:t>
            </a:r>
            <a:endParaRPr lang="en-US" altLang="ko-KR" sz="900" b="1" dirty="0">
              <a:latin typeface="Roboto" panose="020B0600000101010101" charset="0"/>
            </a:endParaRPr>
          </a:p>
          <a:p>
            <a:endParaRPr lang="en-US" altLang="ko-KR" sz="900" b="1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마지막 </a:t>
            </a:r>
            <a:r>
              <a:rPr lang="en-US" altLang="ko-KR" sz="700" dirty="0">
                <a:latin typeface="Roboto" panose="020B0600000101010101" charset="0"/>
              </a:rPr>
              <a:t>Default Welcome Intent</a:t>
            </a:r>
            <a:r>
              <a:rPr lang="ko-KR" altLang="en-US" sz="700" dirty="0">
                <a:latin typeface="Roboto" panose="020B0600000101010101" charset="0"/>
              </a:rPr>
              <a:t>가 </a:t>
            </a:r>
            <a:r>
              <a:rPr lang="ko-KR" altLang="en-US" sz="700" dirty="0" err="1">
                <a:latin typeface="Roboto" panose="020B0600000101010101" charset="0"/>
              </a:rPr>
              <a:t>매핑되었을</a:t>
            </a:r>
            <a:r>
              <a:rPr lang="ko-KR" altLang="en-US" sz="700" dirty="0">
                <a:latin typeface="Roboto" panose="020B0600000101010101" charset="0"/>
              </a:rPr>
              <a:t> 때부터 지금까지 사용자가 법인이 지정한 제품군을 선택했을 때 </a:t>
            </a:r>
            <a:endParaRPr lang="en-US" altLang="ko-KR" sz="700" dirty="0">
              <a:latin typeface="Roboto" panose="020B0600000101010101" charset="0"/>
            </a:endParaRPr>
          </a:p>
          <a:p>
            <a:endParaRPr lang="en-US" altLang="ko-KR" sz="700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만약 사용자가 </a:t>
            </a:r>
            <a:r>
              <a:rPr lang="en-US" altLang="ko-KR" sz="700" dirty="0">
                <a:latin typeface="Roboto" panose="020B0600000101010101" charset="0"/>
              </a:rPr>
              <a:t>Home word</a:t>
            </a:r>
            <a:r>
              <a:rPr lang="ko-KR" altLang="en-US" sz="700" dirty="0">
                <a:latin typeface="Roboto" panose="020B0600000101010101" charset="0"/>
              </a:rPr>
              <a:t>를 입력해서 </a:t>
            </a:r>
            <a:r>
              <a:rPr lang="en-US" altLang="ko-KR" sz="700" dirty="0">
                <a:latin typeface="Roboto" panose="020B0600000101010101" charset="0"/>
              </a:rPr>
              <a:t>Default welcome intent</a:t>
            </a:r>
            <a:r>
              <a:rPr lang="ko-KR" altLang="en-US" sz="700" dirty="0">
                <a:latin typeface="Roboto" panose="020B0600000101010101" charset="0"/>
              </a:rPr>
              <a:t>를 입력했다면 그 이후로는 사용자가 제품을 선택하기 전까지 </a:t>
            </a:r>
            <a:r>
              <a:rPr lang="en-US" altLang="ko-KR" sz="700" dirty="0">
                <a:latin typeface="Roboto" panose="020B0600000101010101" charset="0"/>
              </a:rPr>
              <a:t>GPT </a:t>
            </a:r>
            <a:r>
              <a:rPr lang="ko-KR" altLang="en-US" sz="700" dirty="0">
                <a:latin typeface="Roboto" panose="020B0600000101010101" charset="0"/>
              </a:rPr>
              <a:t>연결 </a:t>
            </a:r>
            <a:r>
              <a:rPr lang="en-US" altLang="ko-KR" sz="700" dirty="0">
                <a:latin typeface="Roboto" panose="020B0600000101010101" charset="0"/>
              </a:rPr>
              <a:t>X</a:t>
            </a:r>
          </a:p>
        </p:txBody>
      </p:sp>
      <p:cxnSp>
        <p:nvCxnSpPr>
          <p:cNvPr id="62" name="Google Shape;460;p19">
            <a:extLst>
              <a:ext uri="{FF2B5EF4-FFF2-40B4-BE49-F238E27FC236}">
                <a16:creationId xmlns:a16="http://schemas.microsoft.com/office/drawing/2014/main" id="{AF978AA5-D9C9-460E-8323-B6A5D2AAEB1D}"/>
              </a:ext>
            </a:extLst>
          </p:cNvPr>
          <p:cNvCxnSpPr>
            <a:cxnSpLocks/>
          </p:cNvCxnSpPr>
          <p:nvPr/>
        </p:nvCxnSpPr>
        <p:spPr>
          <a:xfrm flipH="1">
            <a:off x="4181667" y="1630645"/>
            <a:ext cx="649971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63" name="Google Shape;457;p19">
            <a:extLst>
              <a:ext uri="{FF2B5EF4-FFF2-40B4-BE49-F238E27FC236}">
                <a16:creationId xmlns:a16="http://schemas.microsoft.com/office/drawing/2014/main" id="{120C6985-79DD-4969-B44F-4E973A0BBF56}"/>
              </a:ext>
            </a:extLst>
          </p:cNvPr>
          <p:cNvGrpSpPr/>
          <p:nvPr/>
        </p:nvGrpSpPr>
        <p:grpSpPr>
          <a:xfrm>
            <a:off x="4409350" y="1568966"/>
            <a:ext cx="288432" cy="110174"/>
            <a:chOff x="1169632" y="4149135"/>
            <a:chExt cx="255300" cy="97427"/>
          </a:xfrm>
        </p:grpSpPr>
        <p:sp>
          <p:nvSpPr>
            <p:cNvPr id="64" name="Google Shape;458;p19">
              <a:extLst>
                <a:ext uri="{FF2B5EF4-FFF2-40B4-BE49-F238E27FC236}">
                  <a16:creationId xmlns:a16="http://schemas.microsoft.com/office/drawing/2014/main" id="{FE2D4D14-7A09-4291-B228-C4B8AB086399}"/>
                </a:ext>
              </a:extLst>
            </p:cNvPr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" name="Google Shape;459;p19">
              <a:extLst>
                <a:ext uri="{FF2B5EF4-FFF2-40B4-BE49-F238E27FC236}">
                  <a16:creationId xmlns:a16="http://schemas.microsoft.com/office/drawing/2014/main" id="{2DE2EEA7-5957-4248-A3AF-F9315F40ACA0}"/>
                </a:ext>
              </a:extLst>
            </p:cNvPr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en-US" altLang="ko" sz="600" dirty="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lang="en-US" altLang="ko" sz="600" dirty="0">
                  <a:solidFill>
                    <a:srgbClr val="FF0000"/>
                  </a:solidFill>
                  <a:latin typeface="Roboto"/>
                  <a:ea typeface="Roboto"/>
                  <a:cs typeface="Roboto"/>
                  <a:sym typeface="Roboto"/>
                </a:rPr>
                <a:t>*</a:t>
              </a:r>
              <a:endParaRPr sz="600" b="0" i="0" u="none" strike="noStrike" cap="none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" name="Google Shape;449;p19">
            <a:extLst>
              <a:ext uri="{FF2B5EF4-FFF2-40B4-BE49-F238E27FC236}">
                <a16:creationId xmlns:a16="http://schemas.microsoft.com/office/drawing/2014/main" id="{929B596C-B94B-4BDD-92F7-531CCB84A078}"/>
              </a:ext>
            </a:extLst>
          </p:cNvPr>
          <p:cNvSpPr/>
          <p:nvPr/>
        </p:nvSpPr>
        <p:spPr>
          <a:xfrm>
            <a:off x="6806940" y="1588925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en-US" altLang="ko" sz="750" dirty="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GPT API</a:t>
            </a:r>
            <a:br>
              <a:rPr lang="ko" sz="7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altLang="ko" sz="7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Orchestration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EC8447C3-00EC-4339-974C-DD5E6B9A5C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0003" y="1648575"/>
            <a:ext cx="298167" cy="2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1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2"/>
          <p:cNvSpPr txBox="1">
            <a:spLocks noGrp="1"/>
          </p:cNvSpPr>
          <p:nvPr>
            <p:ph type="title"/>
          </p:nvPr>
        </p:nvSpPr>
        <p:spPr>
          <a:xfrm>
            <a:off x="303425" y="674627"/>
            <a:ext cx="5577000" cy="29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latin typeface="Malgun Gothic"/>
                <a:ea typeface="Malgun Gothic"/>
                <a:cs typeface="Malgun Gothic"/>
                <a:sym typeface="Malgun Gothic"/>
              </a:rPr>
              <a:t>1. whatsapp-zendesk live chat process</a:t>
            </a:r>
            <a:endParaRPr sz="1200" b="1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4" name="Google Shape;624;p22"/>
          <p:cNvGrpSpPr/>
          <p:nvPr/>
        </p:nvGrpSpPr>
        <p:grpSpPr>
          <a:xfrm>
            <a:off x="3240449" y="1297769"/>
            <a:ext cx="449220" cy="673185"/>
            <a:chOff x="-758361" y="4526835"/>
            <a:chExt cx="572400" cy="809700"/>
          </a:xfrm>
        </p:grpSpPr>
        <p:sp>
          <p:nvSpPr>
            <p:cNvPr id="625" name="Google Shape;625;p22"/>
            <p:cNvSpPr/>
            <p:nvPr/>
          </p:nvSpPr>
          <p:spPr>
            <a:xfrm>
              <a:off x="-758361" y="4526835"/>
              <a:ext cx="572400" cy="8097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Relay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26" name="Google Shape;626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651852" y="4624803"/>
              <a:ext cx="359400" cy="32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7" name="Google Shape;627;p22"/>
          <p:cNvSpPr/>
          <p:nvPr/>
        </p:nvSpPr>
        <p:spPr>
          <a:xfrm>
            <a:off x="4558838" y="1421358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8" name="Google Shape;628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3304" y="1495242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9" name="Google Shape;629;p22"/>
          <p:cNvCxnSpPr/>
          <p:nvPr/>
        </p:nvCxnSpPr>
        <p:spPr>
          <a:xfrm>
            <a:off x="2461138" y="1576370"/>
            <a:ext cx="6405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630" name="Google Shape;630;p22"/>
          <p:cNvCxnSpPr/>
          <p:nvPr/>
        </p:nvCxnSpPr>
        <p:spPr>
          <a:xfrm rot="10800000">
            <a:off x="1043788" y="1366383"/>
            <a:ext cx="689100" cy="250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cxnSp>
        <p:nvCxnSpPr>
          <p:cNvPr id="631" name="Google Shape;631;p22"/>
          <p:cNvCxnSpPr/>
          <p:nvPr/>
        </p:nvCxnSpPr>
        <p:spPr>
          <a:xfrm>
            <a:off x="3825601" y="1576370"/>
            <a:ext cx="6405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632" name="Google Shape;632;p22"/>
          <p:cNvCxnSpPr/>
          <p:nvPr/>
        </p:nvCxnSpPr>
        <p:spPr>
          <a:xfrm rot="10800000">
            <a:off x="3822751" y="1692783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633" name="Google Shape;633;p22"/>
          <p:cNvGrpSpPr/>
          <p:nvPr/>
        </p:nvGrpSpPr>
        <p:grpSpPr>
          <a:xfrm>
            <a:off x="403919" y="1046083"/>
            <a:ext cx="502794" cy="628200"/>
            <a:chOff x="6052000" y="1261450"/>
            <a:chExt cx="466500" cy="628200"/>
          </a:xfrm>
        </p:grpSpPr>
        <p:sp>
          <p:nvSpPr>
            <p:cNvPr id="634" name="Google Shape;634;p22"/>
            <p:cNvSpPr/>
            <p:nvPr/>
          </p:nvSpPr>
          <p:spPr>
            <a:xfrm>
              <a:off x="6052000" y="1261450"/>
              <a:ext cx="466500" cy="628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Whatsapp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35" name="Google Shape;635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39546" y="1342175"/>
              <a:ext cx="281698" cy="28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6" name="Google Shape;636;p22"/>
          <p:cNvSpPr/>
          <p:nvPr/>
        </p:nvSpPr>
        <p:spPr>
          <a:xfrm>
            <a:off x="1851963" y="1431671"/>
            <a:ext cx="429900" cy="4620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7" name="Google Shape;63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1765" y="1535770"/>
            <a:ext cx="337800" cy="253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8" name="Google Shape;638;p22"/>
          <p:cNvCxnSpPr/>
          <p:nvPr/>
        </p:nvCxnSpPr>
        <p:spPr>
          <a:xfrm>
            <a:off x="1038887" y="1237958"/>
            <a:ext cx="741600" cy="262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39" name="Google Shape;639;p22"/>
          <p:cNvSpPr/>
          <p:nvPr/>
        </p:nvSpPr>
        <p:spPr>
          <a:xfrm>
            <a:off x="403913" y="1970944"/>
            <a:ext cx="502800" cy="673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800">
                <a:solidFill>
                  <a:schemeClr val="dk1"/>
                </a:solidFill>
              </a:rPr>
              <a:t>Customer service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0" name="Google Shape;640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0613" y="2020707"/>
            <a:ext cx="329400" cy="32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1" name="Google Shape;641;p22"/>
          <p:cNvCxnSpPr/>
          <p:nvPr/>
        </p:nvCxnSpPr>
        <p:spPr>
          <a:xfrm flipH="1">
            <a:off x="959963" y="1940045"/>
            <a:ext cx="881700" cy="433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642" name="Google Shape;642;p22"/>
          <p:cNvSpPr txBox="1"/>
          <p:nvPr/>
        </p:nvSpPr>
        <p:spPr>
          <a:xfrm>
            <a:off x="1043788" y="1182833"/>
            <a:ext cx="1444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user say ‘live chat agent’ 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22"/>
          <p:cNvSpPr txBox="1"/>
          <p:nvPr/>
        </p:nvSpPr>
        <p:spPr>
          <a:xfrm>
            <a:off x="4082338" y="1825670"/>
            <a:ext cx="1444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 response </a:t>
            </a:r>
            <a:r>
              <a:rPr lang="ko" sz="6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‘CS 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(Customer service)’ event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4" name="Google Shape;644;p22"/>
          <p:cNvCxnSpPr/>
          <p:nvPr/>
        </p:nvCxnSpPr>
        <p:spPr>
          <a:xfrm flipH="1">
            <a:off x="2093369" y="1710561"/>
            <a:ext cx="224700" cy="336600"/>
          </a:xfrm>
          <a:prstGeom prst="bentConnector4">
            <a:avLst>
              <a:gd name="adj1" fmla="val -52100"/>
              <a:gd name="adj2" fmla="val 13783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645" name="Google Shape;645;p22"/>
          <p:cNvCxnSpPr/>
          <p:nvPr/>
        </p:nvCxnSpPr>
        <p:spPr>
          <a:xfrm flipH="1">
            <a:off x="3464969" y="1710561"/>
            <a:ext cx="224700" cy="336600"/>
          </a:xfrm>
          <a:prstGeom prst="bentConnector4">
            <a:avLst>
              <a:gd name="adj1" fmla="val -52100"/>
              <a:gd name="adj2" fmla="val 137837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46" name="Google Shape;646;p22"/>
          <p:cNvSpPr txBox="1"/>
          <p:nvPr/>
        </p:nvSpPr>
        <p:spPr>
          <a:xfrm>
            <a:off x="3128713" y="2267270"/>
            <a:ext cx="1444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add ‘live chat’ </a:t>
            </a:r>
            <a:r>
              <a:rPr lang="ko" sz="600" b="1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Button </a:t>
            </a:r>
            <a:r>
              <a:rPr lang="ko" sz="600" dirty="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to response data </a:t>
            </a:r>
            <a:endParaRPr sz="600" dirty="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22"/>
          <p:cNvCxnSpPr/>
          <p:nvPr/>
        </p:nvCxnSpPr>
        <p:spPr>
          <a:xfrm>
            <a:off x="1038887" y="1542758"/>
            <a:ext cx="741600" cy="2622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648" name="Google Shape;648;p22"/>
          <p:cNvSpPr txBox="1"/>
          <p:nvPr/>
        </p:nvSpPr>
        <p:spPr>
          <a:xfrm>
            <a:off x="698788" y="1682170"/>
            <a:ext cx="8817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click  ‘live chat’ </a:t>
            </a:r>
            <a:r>
              <a:rPr lang="ko" sz="6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Button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22"/>
          <p:cNvSpPr txBox="1"/>
          <p:nvPr/>
        </p:nvSpPr>
        <p:spPr>
          <a:xfrm>
            <a:off x="1894913" y="2211395"/>
            <a:ext cx="741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4. attach user to CS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22"/>
          <p:cNvSpPr txBox="1"/>
          <p:nvPr/>
        </p:nvSpPr>
        <p:spPr>
          <a:xfrm>
            <a:off x="2569151" y="1431670"/>
            <a:ext cx="384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1-1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22"/>
          <p:cNvSpPr txBox="1"/>
          <p:nvPr/>
        </p:nvSpPr>
        <p:spPr>
          <a:xfrm>
            <a:off x="4016951" y="1431670"/>
            <a:ext cx="384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1-2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2" name="Google Shape;652;p22"/>
          <p:cNvCxnSpPr/>
          <p:nvPr/>
        </p:nvCxnSpPr>
        <p:spPr>
          <a:xfrm rot="10800000">
            <a:off x="2451151" y="1692783"/>
            <a:ext cx="646200" cy="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dot"/>
            <a:round/>
            <a:headEnd type="none" w="sm" len="sm"/>
            <a:tailEnd type="triangle" w="sm" len="sm"/>
          </a:ln>
        </p:spPr>
      </p:cxnSp>
      <p:sp>
        <p:nvSpPr>
          <p:cNvPr id="653" name="Google Shape;653;p22"/>
          <p:cNvSpPr txBox="1"/>
          <p:nvPr/>
        </p:nvSpPr>
        <p:spPr>
          <a:xfrm>
            <a:off x="2645351" y="1736470"/>
            <a:ext cx="384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2-1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22"/>
          <p:cNvSpPr txBox="1"/>
          <p:nvPr/>
        </p:nvSpPr>
        <p:spPr>
          <a:xfrm>
            <a:off x="1349951" y="1507870"/>
            <a:ext cx="3840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2-2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22"/>
          <p:cNvSpPr txBox="1">
            <a:spLocks noGrp="1"/>
          </p:cNvSpPr>
          <p:nvPr>
            <p:ph type="title"/>
          </p:nvPr>
        </p:nvSpPr>
        <p:spPr>
          <a:xfrm>
            <a:off x="399042" y="2734744"/>
            <a:ext cx="3106800" cy="3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>
                <a:latin typeface="Malgun Gothic"/>
                <a:ea typeface="Malgun Gothic"/>
                <a:cs typeface="Malgun Gothic"/>
                <a:sym typeface="Malgun Gothic"/>
              </a:rPr>
              <a:t>2. WEB-zendesk live chat process</a:t>
            </a:r>
            <a:endParaRPr sz="1200"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479080" y="3260295"/>
            <a:ext cx="502800" cy="731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WebUI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7" name="Google Shape;657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5793" y="3394918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2"/>
          <p:cNvSpPr/>
          <p:nvPr/>
        </p:nvSpPr>
        <p:spPr>
          <a:xfrm>
            <a:off x="2305392" y="3358694"/>
            <a:ext cx="12177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9" name="Google Shape;65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9858" y="3432579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0" name="Google Shape;660;p22"/>
          <p:cNvCxnSpPr/>
          <p:nvPr/>
        </p:nvCxnSpPr>
        <p:spPr>
          <a:xfrm rot="10800000" flipH="1">
            <a:off x="1137230" y="3485682"/>
            <a:ext cx="936600" cy="1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61" name="Google Shape;661;p22"/>
          <p:cNvSpPr/>
          <p:nvPr/>
        </p:nvSpPr>
        <p:spPr>
          <a:xfrm>
            <a:off x="511467" y="4249168"/>
            <a:ext cx="502800" cy="673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800">
                <a:solidFill>
                  <a:schemeClr val="dk1"/>
                </a:solidFill>
              </a:rPr>
              <a:t>Customer service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2" name="Google Shape;662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8167" y="4298931"/>
            <a:ext cx="329400" cy="3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22"/>
          <p:cNvSpPr/>
          <p:nvPr/>
        </p:nvSpPr>
        <p:spPr>
          <a:xfrm>
            <a:off x="2198080" y="4396345"/>
            <a:ext cx="429900" cy="4620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64" name="Google Shape;66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7882" y="4500444"/>
            <a:ext cx="337800" cy="253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5" name="Google Shape;665;p22"/>
          <p:cNvCxnSpPr/>
          <p:nvPr/>
        </p:nvCxnSpPr>
        <p:spPr>
          <a:xfrm flipH="1">
            <a:off x="1151942" y="3610869"/>
            <a:ext cx="895500" cy="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triangle" w="sm" len="sm"/>
          </a:ln>
        </p:spPr>
      </p:cxnSp>
      <p:cxnSp>
        <p:nvCxnSpPr>
          <p:cNvPr id="666" name="Google Shape;666;p22"/>
          <p:cNvCxnSpPr/>
          <p:nvPr/>
        </p:nvCxnSpPr>
        <p:spPr>
          <a:xfrm>
            <a:off x="1203005" y="3772720"/>
            <a:ext cx="939600" cy="855600"/>
          </a:xfrm>
          <a:prstGeom prst="straightConnector1">
            <a:avLst/>
          </a:prstGeom>
          <a:noFill/>
          <a:ln w="19050" cap="flat" cmpd="sng">
            <a:solidFill>
              <a:srgbClr val="6AA84F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667" name="Google Shape;667;p22"/>
          <p:cNvCxnSpPr/>
          <p:nvPr/>
        </p:nvCxnSpPr>
        <p:spPr>
          <a:xfrm flipH="1">
            <a:off x="1130942" y="4713994"/>
            <a:ext cx="995400" cy="4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668" name="Google Shape;668;p22"/>
          <p:cNvSpPr txBox="1"/>
          <p:nvPr/>
        </p:nvSpPr>
        <p:spPr>
          <a:xfrm>
            <a:off x="1084742" y="3316507"/>
            <a:ext cx="1444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user say ‘live chat agent’ 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22"/>
          <p:cNvSpPr txBox="1"/>
          <p:nvPr/>
        </p:nvSpPr>
        <p:spPr>
          <a:xfrm>
            <a:off x="1143767" y="3652319"/>
            <a:ext cx="14445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2. add ‘live chat’ </a:t>
            </a:r>
            <a:r>
              <a:rPr lang="ko" sz="6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Button 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to response data 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22"/>
          <p:cNvSpPr txBox="1"/>
          <p:nvPr/>
        </p:nvSpPr>
        <p:spPr>
          <a:xfrm>
            <a:off x="1152242" y="4057819"/>
            <a:ext cx="8817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click  ‘live chat’ </a:t>
            </a:r>
            <a:r>
              <a:rPr lang="ko" sz="6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Button 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 confirm -&gt; connect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22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660" b="1" dirty="0">
                <a:latin typeface="Malgun Gothic"/>
                <a:ea typeface="Malgun Gothic"/>
                <a:cs typeface="Malgun Gothic"/>
                <a:sym typeface="Malgun Gothic"/>
              </a:rPr>
              <a:t>4.2</a:t>
            </a:r>
            <a:r>
              <a:rPr lang="ko" sz="1660" b="1" dirty="0">
                <a:latin typeface="Malgun Gothic"/>
                <a:ea typeface="Malgun Gothic"/>
                <a:cs typeface="Malgun Gothic"/>
                <a:sym typeface="Malgun Gothic"/>
              </a:rPr>
              <a:t> 상담원 채팅 (WEB, Whatsapp</a:t>
            </a:r>
            <a:r>
              <a:rPr lang="en-US" altLang="ko" sz="1660" b="1" dirty="0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en-US" altLang="ko" sz="1660" b="1" dirty="0" err="1">
                <a:latin typeface="Malgun Gothic"/>
                <a:ea typeface="Malgun Gothic"/>
                <a:cs typeface="Malgun Gothic"/>
                <a:sym typeface="Malgun Gothic"/>
              </a:rPr>
              <a:t>twilio</a:t>
            </a:r>
            <a:r>
              <a:rPr lang="ko" sz="1660" b="1" dirty="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660" b="1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A78C87-3D73-4D7B-9480-58A3D44CA0F1}"/>
              </a:ext>
            </a:extLst>
          </p:cNvPr>
          <p:cNvSpPr txBox="1"/>
          <p:nvPr/>
        </p:nvSpPr>
        <p:spPr>
          <a:xfrm>
            <a:off x="5919507" y="1000038"/>
            <a:ext cx="282057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Roboto" panose="020B0600000101010101" charset="0"/>
              </a:rPr>
              <a:t>CS event tag</a:t>
            </a:r>
            <a:r>
              <a:rPr lang="ko-KR" altLang="en-US" sz="900" b="1" dirty="0">
                <a:latin typeface="Roboto" panose="020B0600000101010101" charset="0"/>
              </a:rPr>
              <a:t>가 붙는 조건</a:t>
            </a:r>
            <a:endParaRPr lang="en-US" altLang="ko-KR" sz="900" b="1" dirty="0">
              <a:latin typeface="Roboto" panose="020B0600000101010101" charset="0"/>
            </a:endParaRPr>
          </a:p>
          <a:p>
            <a:endParaRPr lang="en-US" altLang="ko-KR" sz="900" b="1" dirty="0">
              <a:latin typeface="Roboto" panose="020B0600000101010101" charset="0"/>
            </a:endParaRPr>
          </a:p>
          <a:p>
            <a:r>
              <a:rPr lang="ko-KR" altLang="en-US" sz="700" dirty="0" err="1">
                <a:latin typeface="Roboto" panose="020B0600000101010101" charset="0"/>
              </a:rPr>
              <a:t>챗봇의</a:t>
            </a:r>
            <a:r>
              <a:rPr lang="ko-KR" altLang="en-US" sz="700" dirty="0">
                <a:latin typeface="Roboto" panose="020B0600000101010101" charset="0"/>
              </a:rPr>
              <a:t> 응답으로 </a:t>
            </a:r>
            <a:r>
              <a:rPr lang="en-US" altLang="ko-KR" sz="700" dirty="0">
                <a:latin typeface="Roboto" panose="020B0600000101010101" charset="0"/>
              </a:rPr>
              <a:t>Live chat </a:t>
            </a:r>
            <a:r>
              <a:rPr lang="ko-KR" altLang="en-US" sz="700" dirty="0">
                <a:latin typeface="Roboto" panose="020B0600000101010101" charset="0"/>
              </a:rPr>
              <a:t>팝업 </a:t>
            </a:r>
            <a:r>
              <a:rPr lang="en-US" altLang="ko-KR" sz="700" dirty="0">
                <a:latin typeface="Roboto" panose="020B0600000101010101" charset="0"/>
              </a:rPr>
              <a:t>URL (</a:t>
            </a:r>
            <a:r>
              <a:rPr lang="en-US" altLang="ko-KR" sz="700" dirty="0"/>
              <a:t>https://zendesk-live-chat</a:t>
            </a:r>
            <a:r>
              <a:rPr lang="en-US" altLang="ko-KR" sz="700" dirty="0">
                <a:latin typeface="Roboto" panose="020B0600000101010101" charset="0"/>
              </a:rPr>
              <a:t>)</a:t>
            </a:r>
            <a:r>
              <a:rPr lang="ko-KR" altLang="en-US" sz="700" dirty="0">
                <a:latin typeface="Roboto" panose="020B0600000101010101" charset="0"/>
              </a:rPr>
              <a:t>이 포함되었을 때 </a:t>
            </a:r>
            <a:r>
              <a:rPr lang="en-US" altLang="ko-KR" sz="700" dirty="0">
                <a:latin typeface="Roboto" panose="020B0600000101010101" charset="0"/>
              </a:rPr>
              <a:t>CS</a:t>
            </a:r>
            <a:r>
              <a:rPr lang="ko-KR" altLang="en-US" sz="700" dirty="0">
                <a:latin typeface="Roboto" panose="020B0600000101010101" charset="0"/>
              </a:rPr>
              <a:t>가 전송된다</a:t>
            </a:r>
            <a:r>
              <a:rPr lang="en-US" altLang="ko-KR" sz="700" dirty="0">
                <a:latin typeface="Roboto" panose="020B0600000101010101" charset="0"/>
              </a:rPr>
              <a:t>.</a:t>
            </a:r>
          </a:p>
          <a:p>
            <a:endParaRPr lang="en-US" altLang="ko-KR" sz="700" dirty="0">
              <a:latin typeface="Roboto" panose="020B0600000101010101" charset="0"/>
            </a:endParaRPr>
          </a:p>
          <a:p>
            <a:r>
              <a:rPr lang="ko-KR" altLang="en-US" sz="700" dirty="0">
                <a:latin typeface="Roboto" panose="020B0600000101010101" charset="0"/>
              </a:rPr>
              <a:t>추후 </a:t>
            </a:r>
            <a:r>
              <a:rPr lang="en-US" altLang="ko-KR" sz="700" dirty="0">
                <a:latin typeface="Roboto" panose="020B0600000101010101" charset="0"/>
              </a:rPr>
              <a:t>CS </a:t>
            </a:r>
            <a:r>
              <a:rPr lang="ko-KR" altLang="en-US" sz="700" dirty="0">
                <a:latin typeface="Roboto" panose="020B0600000101010101" charset="0"/>
              </a:rPr>
              <a:t>태그가 전송될 때 </a:t>
            </a:r>
            <a:r>
              <a:rPr lang="en-US" altLang="ko-KR" sz="700" dirty="0">
                <a:latin typeface="Roboto" panose="020B0600000101010101" charset="0"/>
              </a:rPr>
              <a:t>Zendesk group code</a:t>
            </a:r>
            <a:r>
              <a:rPr lang="ko-KR" altLang="en-US" sz="700" dirty="0">
                <a:latin typeface="Roboto" panose="020B0600000101010101" charset="0"/>
              </a:rPr>
              <a:t>를 같이 전달하여 해당 부서와 연결할 수 있도록 하는 </a:t>
            </a:r>
            <a:r>
              <a:rPr lang="ko-KR" altLang="en-US" sz="700" dirty="0" err="1">
                <a:latin typeface="Roboto" panose="020B0600000101010101" charset="0"/>
              </a:rPr>
              <a:t>기능건이</a:t>
            </a:r>
            <a:r>
              <a:rPr lang="ko-KR" altLang="en-US" sz="700" dirty="0">
                <a:latin typeface="Roboto" panose="020B0600000101010101" charset="0"/>
              </a:rPr>
              <a:t> 개발 진행 중</a:t>
            </a:r>
            <a:endParaRPr lang="en-US" altLang="ko-KR" sz="700" dirty="0">
              <a:latin typeface="Roboto" panose="020B0600000101010101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3"/>
          <p:cNvSpPr txBox="1">
            <a:spLocks noGrp="1"/>
          </p:cNvSpPr>
          <p:nvPr>
            <p:ph type="title"/>
          </p:nvPr>
        </p:nvSpPr>
        <p:spPr>
          <a:xfrm>
            <a:off x="311700" y="240300"/>
            <a:ext cx="8520600" cy="46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660" b="1" dirty="0">
                <a:latin typeface="Malgun Gothic"/>
                <a:ea typeface="Malgun Gothic"/>
                <a:cs typeface="Malgun Gothic"/>
                <a:sym typeface="Malgun Gothic"/>
              </a:rPr>
              <a:t>4.3</a:t>
            </a:r>
            <a:r>
              <a:rPr lang="ko" sz="1660" b="1" dirty="0">
                <a:latin typeface="Malgun Gothic"/>
                <a:ea typeface="Malgun Gothic"/>
                <a:cs typeface="Malgun Gothic"/>
                <a:sym typeface="Malgun Gothic"/>
              </a:rPr>
              <a:t> 상담원 채팅 이력 열람 프로세스</a:t>
            </a:r>
            <a:r>
              <a:rPr lang="en-US" altLang="ko" sz="1660" b="1" dirty="0">
                <a:latin typeface="Malgun Gothic"/>
                <a:ea typeface="Malgun Gothic"/>
                <a:cs typeface="Malgun Gothic"/>
                <a:sym typeface="Malgun Gothic"/>
              </a:rPr>
              <a:t> ( </a:t>
            </a:r>
            <a:r>
              <a:rPr lang="ko-KR" altLang="en-US" sz="1660" b="1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부분은 저도 확인해봐야 할 것 같습니다</a:t>
            </a:r>
            <a:r>
              <a:rPr lang="en-US" altLang="ko-KR" sz="1660" b="1" dirty="0">
                <a:solidFill>
                  <a:schemeClr val="bg1">
                    <a:lumMod val="50000"/>
                  </a:schemeClr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lang="en-US" altLang="ko-KR" sz="1660" b="1" dirty="0"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sz="1660" b="1" dirty="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93" name="Google Shape;693;p23"/>
          <p:cNvGrpSpPr/>
          <p:nvPr/>
        </p:nvGrpSpPr>
        <p:grpSpPr>
          <a:xfrm>
            <a:off x="4415286" y="1382149"/>
            <a:ext cx="449220" cy="673185"/>
            <a:chOff x="-758361" y="4526835"/>
            <a:chExt cx="572400" cy="809700"/>
          </a:xfrm>
        </p:grpSpPr>
        <p:sp>
          <p:nvSpPr>
            <p:cNvPr id="694" name="Google Shape;694;p23"/>
            <p:cNvSpPr/>
            <p:nvPr/>
          </p:nvSpPr>
          <p:spPr>
            <a:xfrm>
              <a:off x="-758361" y="4526835"/>
              <a:ext cx="572400" cy="8097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Relay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Server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695" name="Google Shape;695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651852" y="4624803"/>
              <a:ext cx="359400" cy="329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6" name="Google Shape;696;p23"/>
          <p:cNvSpPr/>
          <p:nvPr/>
        </p:nvSpPr>
        <p:spPr>
          <a:xfrm>
            <a:off x="5657475" y="1505738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Proxy Server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App Engine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7" name="Google Shape;69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21941" y="1579622"/>
            <a:ext cx="238725" cy="1923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8" name="Google Shape;698;p23"/>
          <p:cNvCxnSpPr/>
          <p:nvPr/>
        </p:nvCxnSpPr>
        <p:spPr>
          <a:xfrm flipH="1">
            <a:off x="6053800" y="1996750"/>
            <a:ext cx="900" cy="429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699" name="Google Shape;699;p23"/>
          <p:cNvSpPr/>
          <p:nvPr/>
        </p:nvSpPr>
        <p:spPr>
          <a:xfrm>
            <a:off x="5657475" y="2461938"/>
            <a:ext cx="1031400" cy="3822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429750" tIns="73150" rIns="45700" bIns="73150" anchor="ctr" anchorCtr="0">
            <a:noAutofit/>
          </a:bodyPr>
          <a:lstStyle/>
          <a:p>
            <a:pPr marL="0" marR="0" lvl="0" indent="0" algn="l" rtl="0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75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Redis</a:t>
            </a:r>
            <a:br>
              <a:rPr lang="ko" sz="700" b="0" i="0" u="none" strike="noStrike" cap="none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ko" sz="7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Memorystore</a:t>
            </a:r>
            <a:endParaRPr sz="700" b="0" i="0" u="none" strike="noStrike" cap="non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00" name="Google Shape;70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0225" y="2535450"/>
            <a:ext cx="235125" cy="2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1" name="Google Shape;701;p23"/>
          <p:cNvCxnSpPr/>
          <p:nvPr/>
        </p:nvCxnSpPr>
        <p:spPr>
          <a:xfrm>
            <a:off x="3712175" y="1660750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702" name="Google Shape;702;p23"/>
          <p:cNvGrpSpPr/>
          <p:nvPr/>
        </p:nvGrpSpPr>
        <p:grpSpPr>
          <a:xfrm>
            <a:off x="3904770" y="1611598"/>
            <a:ext cx="255300" cy="97427"/>
            <a:chOff x="1169632" y="4149135"/>
            <a:chExt cx="255300" cy="97427"/>
          </a:xfrm>
        </p:grpSpPr>
        <p:sp>
          <p:nvSpPr>
            <p:cNvPr id="703" name="Google Shape;703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4" name="Google Shape;704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05" name="Google Shape;705;p23"/>
          <p:cNvCxnSpPr/>
          <p:nvPr/>
        </p:nvCxnSpPr>
        <p:spPr>
          <a:xfrm rot="10800000">
            <a:off x="3709325" y="1777163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706" name="Google Shape;706;p23"/>
          <p:cNvGrpSpPr/>
          <p:nvPr/>
        </p:nvGrpSpPr>
        <p:grpSpPr>
          <a:xfrm>
            <a:off x="3904770" y="1728448"/>
            <a:ext cx="255300" cy="97427"/>
            <a:chOff x="1169632" y="4149135"/>
            <a:chExt cx="255300" cy="97427"/>
          </a:xfrm>
        </p:grpSpPr>
        <p:sp>
          <p:nvSpPr>
            <p:cNvPr id="707" name="Google Shape;707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08" name="Google Shape;708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09" name="Google Shape;709;p23"/>
          <p:cNvCxnSpPr/>
          <p:nvPr/>
        </p:nvCxnSpPr>
        <p:spPr>
          <a:xfrm>
            <a:off x="4924238" y="1660750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710" name="Google Shape;710;p23"/>
          <p:cNvGrpSpPr/>
          <p:nvPr/>
        </p:nvGrpSpPr>
        <p:grpSpPr>
          <a:xfrm>
            <a:off x="5116832" y="1611598"/>
            <a:ext cx="255300" cy="97427"/>
            <a:chOff x="1169632" y="4149135"/>
            <a:chExt cx="255300" cy="97427"/>
          </a:xfrm>
        </p:grpSpPr>
        <p:sp>
          <p:nvSpPr>
            <p:cNvPr id="711" name="Google Shape;711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2" name="Google Shape;712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13" name="Google Shape;713;p23"/>
          <p:cNvCxnSpPr/>
          <p:nvPr/>
        </p:nvCxnSpPr>
        <p:spPr>
          <a:xfrm rot="10800000">
            <a:off x="4921388" y="1777163"/>
            <a:ext cx="6462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714" name="Google Shape;714;p23"/>
          <p:cNvGrpSpPr/>
          <p:nvPr/>
        </p:nvGrpSpPr>
        <p:grpSpPr>
          <a:xfrm>
            <a:off x="5116832" y="1728448"/>
            <a:ext cx="255300" cy="97427"/>
            <a:chOff x="1169632" y="4149135"/>
            <a:chExt cx="255300" cy="97427"/>
          </a:xfrm>
        </p:grpSpPr>
        <p:sp>
          <p:nvSpPr>
            <p:cNvPr id="715" name="Google Shape;715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6" name="Google Shape;716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7" name="Google Shape;717;p23"/>
          <p:cNvGrpSpPr/>
          <p:nvPr/>
        </p:nvGrpSpPr>
        <p:grpSpPr>
          <a:xfrm>
            <a:off x="5926595" y="2095248"/>
            <a:ext cx="255300" cy="97427"/>
            <a:chOff x="1169632" y="4149135"/>
            <a:chExt cx="255300" cy="97427"/>
          </a:xfrm>
        </p:grpSpPr>
        <p:sp>
          <p:nvSpPr>
            <p:cNvPr id="718" name="Google Shape;718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19" name="Google Shape;719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8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20" name="Google Shape;720;p23"/>
          <p:cNvSpPr/>
          <p:nvPr/>
        </p:nvSpPr>
        <p:spPr>
          <a:xfrm>
            <a:off x="2146588" y="3562450"/>
            <a:ext cx="4830900" cy="873300"/>
          </a:xfrm>
          <a:prstGeom prst="rect">
            <a:avLst/>
          </a:prstGeom>
          <a:noFill/>
          <a:ln w="9525" cap="flat" cmpd="sng">
            <a:solidFill>
              <a:srgbClr val="E0E0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3"/>
          <p:cNvSpPr txBox="1"/>
          <p:nvPr/>
        </p:nvSpPr>
        <p:spPr>
          <a:xfrm>
            <a:off x="2260854" y="3669325"/>
            <a:ext cx="1444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상담원 연결 event noti(user token)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2. session 조회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3. cs token 생성(session)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23"/>
          <p:cNvSpPr txBox="1"/>
          <p:nvPr/>
        </p:nvSpPr>
        <p:spPr>
          <a:xfrm>
            <a:off x="3826925" y="3669325"/>
            <a:ext cx="15324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4. cs token 전달 (cs token이 포함된 링크)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5. 링크 표시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6. 링크 클릭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3" name="Google Shape;723;p23"/>
          <p:cNvSpPr txBox="1"/>
          <p:nvPr/>
        </p:nvSpPr>
        <p:spPr>
          <a:xfrm>
            <a:off x="5673572" y="3642250"/>
            <a:ext cx="11043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7. cs token 검증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8. 채팅 history 조회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Font typeface="Roboto"/>
              <a:buNone/>
            </a:pPr>
            <a:r>
              <a:rPr lang="ko" sz="6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9. 채팅 history 표시 (html)</a:t>
            </a:r>
            <a:endParaRPr sz="6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4" name="Google Shape;724;p23"/>
          <p:cNvGrpSpPr/>
          <p:nvPr/>
        </p:nvGrpSpPr>
        <p:grpSpPr>
          <a:xfrm>
            <a:off x="1857131" y="1432938"/>
            <a:ext cx="502794" cy="628200"/>
            <a:chOff x="6052000" y="1261450"/>
            <a:chExt cx="466500" cy="628200"/>
          </a:xfrm>
        </p:grpSpPr>
        <p:sp>
          <p:nvSpPr>
            <p:cNvPr id="725" name="Google Shape;725;p23"/>
            <p:cNvSpPr/>
            <p:nvPr/>
          </p:nvSpPr>
          <p:spPr>
            <a:xfrm>
              <a:off x="6052000" y="1261450"/>
              <a:ext cx="466500" cy="628200"/>
            </a:xfrm>
            <a:prstGeom prst="roundRect">
              <a:avLst>
                <a:gd name="adj" fmla="val 1674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" dist="6350" dir="5400000" algn="ctr" rotWithShape="0">
                <a:srgbClr val="000000">
                  <a:alpha val="44710"/>
                </a:srgbClr>
              </a:outerShdw>
            </a:effectLst>
          </p:spPr>
          <p:txBody>
            <a:bodyPr spcFirstLastPara="1" wrap="square" lIns="0" tIns="493775" rIns="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2121"/>
                </a:buClr>
                <a:buFont typeface="Roboto"/>
                <a:buNone/>
              </a:pPr>
              <a:r>
                <a:rPr lang="ko" sz="700">
                  <a:solidFill>
                    <a:srgbClr val="212121"/>
                  </a:solidFill>
                  <a:latin typeface="Roboto"/>
                  <a:ea typeface="Roboto"/>
                  <a:cs typeface="Roboto"/>
                  <a:sym typeface="Roboto"/>
                </a:rPr>
                <a:t>Whatsapp</a:t>
              </a:r>
              <a:endParaRPr sz="7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726" name="Google Shape;726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39546" y="1342175"/>
              <a:ext cx="281698" cy="281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7" name="Google Shape;727;p23"/>
          <p:cNvSpPr/>
          <p:nvPr/>
        </p:nvSpPr>
        <p:spPr>
          <a:xfrm>
            <a:off x="3103000" y="1516051"/>
            <a:ext cx="429900" cy="4620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8" name="Google Shape;728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52802" y="1620150"/>
            <a:ext cx="337800" cy="253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9" name="Google Shape;729;p23"/>
          <p:cNvCxnSpPr/>
          <p:nvPr/>
        </p:nvCxnSpPr>
        <p:spPr>
          <a:xfrm>
            <a:off x="2411213" y="1706838"/>
            <a:ext cx="640500" cy="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730" name="Google Shape;730;p23"/>
          <p:cNvGrpSpPr/>
          <p:nvPr/>
        </p:nvGrpSpPr>
        <p:grpSpPr>
          <a:xfrm>
            <a:off x="2603807" y="1657685"/>
            <a:ext cx="255300" cy="97427"/>
            <a:chOff x="1169632" y="4149135"/>
            <a:chExt cx="255300" cy="97427"/>
          </a:xfrm>
        </p:grpSpPr>
        <p:sp>
          <p:nvSpPr>
            <p:cNvPr id="731" name="Google Shape;731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2" name="Google Shape;732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33" name="Google Shape;733;p23"/>
          <p:cNvCxnSpPr/>
          <p:nvPr/>
        </p:nvCxnSpPr>
        <p:spPr>
          <a:xfrm flipH="1">
            <a:off x="6181825" y="1825875"/>
            <a:ext cx="609000" cy="191100"/>
          </a:xfrm>
          <a:prstGeom prst="bentConnector4">
            <a:avLst>
              <a:gd name="adj1" fmla="val -23013"/>
              <a:gd name="adj2" fmla="val 171782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734" name="Google Shape;734;p23"/>
          <p:cNvGrpSpPr/>
          <p:nvPr/>
        </p:nvGrpSpPr>
        <p:grpSpPr>
          <a:xfrm>
            <a:off x="6800057" y="2055348"/>
            <a:ext cx="255300" cy="96252"/>
            <a:chOff x="1169632" y="4149135"/>
            <a:chExt cx="255300" cy="96252"/>
          </a:xfrm>
        </p:grpSpPr>
        <p:sp>
          <p:nvSpPr>
            <p:cNvPr id="735" name="Google Shape;735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6" name="Google Shape;736;p23"/>
            <p:cNvSpPr/>
            <p:nvPr/>
          </p:nvSpPr>
          <p:spPr>
            <a:xfrm>
              <a:off x="1169632" y="4150288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37" name="Google Shape;737;p23"/>
          <p:cNvSpPr/>
          <p:nvPr/>
        </p:nvSpPr>
        <p:spPr>
          <a:xfrm>
            <a:off x="1857133" y="2499544"/>
            <a:ext cx="502800" cy="73140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>
            <a:noFill/>
          </a:ln>
          <a:effectLst>
            <a:outerShdw blurRad="19050" dist="6350" dir="5400000" algn="ctr" rotWithShape="0">
              <a:srgbClr val="000000">
                <a:alpha val="44710"/>
              </a:srgbClr>
            </a:outerShdw>
          </a:effectLst>
        </p:spPr>
        <p:txBody>
          <a:bodyPr spcFirstLastPara="1" wrap="square" lIns="0" tIns="493775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r>
              <a:rPr lang="ko" sz="800">
                <a:solidFill>
                  <a:schemeClr val="dk1"/>
                </a:solidFill>
              </a:rPr>
              <a:t>Customer service</a:t>
            </a: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Font typeface="Roboto"/>
              <a:buNone/>
            </a:pPr>
            <a:endParaRPr sz="700">
              <a:solidFill>
                <a:srgbClr val="21212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38" name="Google Shape;738;p2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43825" y="2549312"/>
            <a:ext cx="329400" cy="32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9" name="Google Shape;739;p23"/>
          <p:cNvCxnSpPr/>
          <p:nvPr/>
        </p:nvCxnSpPr>
        <p:spPr>
          <a:xfrm rot="-5400000" flipH="1">
            <a:off x="6390838" y="1211525"/>
            <a:ext cx="191100" cy="609000"/>
          </a:xfrm>
          <a:prstGeom prst="bentConnector4">
            <a:avLst>
              <a:gd name="adj1" fmla="val -56122"/>
              <a:gd name="adj2" fmla="val 122989"/>
            </a:avLst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740" name="Google Shape;740;p23"/>
          <p:cNvGrpSpPr/>
          <p:nvPr/>
        </p:nvGrpSpPr>
        <p:grpSpPr>
          <a:xfrm>
            <a:off x="6675595" y="1273998"/>
            <a:ext cx="255300" cy="97427"/>
            <a:chOff x="1169632" y="4149135"/>
            <a:chExt cx="255300" cy="97427"/>
          </a:xfrm>
        </p:grpSpPr>
        <p:sp>
          <p:nvSpPr>
            <p:cNvPr id="741" name="Google Shape;741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2" name="Google Shape;742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43" name="Google Shape;743;p23"/>
          <p:cNvCxnSpPr/>
          <p:nvPr/>
        </p:nvCxnSpPr>
        <p:spPr>
          <a:xfrm flipH="1">
            <a:off x="2411750" y="2061150"/>
            <a:ext cx="816000" cy="7260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744" name="Google Shape;744;p23"/>
          <p:cNvCxnSpPr/>
          <p:nvPr/>
        </p:nvCxnSpPr>
        <p:spPr>
          <a:xfrm rot="10800000" flipH="1">
            <a:off x="2526350" y="1957888"/>
            <a:ext cx="3113100" cy="9318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745" name="Google Shape;745;p23"/>
          <p:cNvCxnSpPr/>
          <p:nvPr/>
        </p:nvCxnSpPr>
        <p:spPr>
          <a:xfrm flipH="1">
            <a:off x="2548075" y="2030163"/>
            <a:ext cx="3156300" cy="9606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dot"/>
            <a:round/>
            <a:headEnd type="none" w="sm" len="sm"/>
            <a:tailEnd type="triangle" w="sm" len="sm"/>
          </a:ln>
        </p:spPr>
      </p:cxnSp>
      <p:grpSp>
        <p:nvGrpSpPr>
          <p:cNvPr id="746" name="Google Shape;746;p23"/>
          <p:cNvGrpSpPr/>
          <p:nvPr/>
        </p:nvGrpSpPr>
        <p:grpSpPr>
          <a:xfrm>
            <a:off x="2796420" y="2296660"/>
            <a:ext cx="255300" cy="97427"/>
            <a:chOff x="1169632" y="4149135"/>
            <a:chExt cx="255300" cy="97427"/>
          </a:xfrm>
        </p:grpSpPr>
        <p:sp>
          <p:nvSpPr>
            <p:cNvPr id="747" name="Google Shape;747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8" name="Google Shape;748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49" name="Google Shape;749;p23"/>
          <p:cNvGrpSpPr/>
          <p:nvPr/>
        </p:nvGrpSpPr>
        <p:grpSpPr>
          <a:xfrm>
            <a:off x="3509145" y="2494723"/>
            <a:ext cx="255300" cy="97427"/>
            <a:chOff x="1169632" y="4149135"/>
            <a:chExt cx="255300" cy="97427"/>
          </a:xfrm>
        </p:grpSpPr>
        <p:sp>
          <p:nvSpPr>
            <p:cNvPr id="750" name="Google Shape;750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1" name="Google Shape;751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752" name="Google Shape;752;p23"/>
          <p:cNvCxnSpPr/>
          <p:nvPr/>
        </p:nvCxnSpPr>
        <p:spPr>
          <a:xfrm flipH="1">
            <a:off x="5878638" y="1959988"/>
            <a:ext cx="900" cy="429900"/>
          </a:xfrm>
          <a:prstGeom prst="straightConnector1">
            <a:avLst/>
          </a:prstGeom>
          <a:noFill/>
          <a:ln w="9525" cap="flat" cmpd="sng">
            <a:solidFill>
              <a:srgbClr val="3A7DF0"/>
            </a:solidFill>
            <a:prstDash val="solid"/>
            <a:round/>
            <a:headEnd type="none" w="sm" len="sm"/>
            <a:tailEnd type="triangle" w="sm" len="sm"/>
          </a:ln>
        </p:spPr>
      </p:cxnSp>
      <p:grpSp>
        <p:nvGrpSpPr>
          <p:cNvPr id="753" name="Google Shape;753;p23"/>
          <p:cNvGrpSpPr/>
          <p:nvPr/>
        </p:nvGrpSpPr>
        <p:grpSpPr>
          <a:xfrm>
            <a:off x="5751432" y="2068223"/>
            <a:ext cx="255300" cy="97427"/>
            <a:chOff x="1169632" y="4149135"/>
            <a:chExt cx="255300" cy="97427"/>
          </a:xfrm>
        </p:grpSpPr>
        <p:sp>
          <p:nvSpPr>
            <p:cNvPr id="754" name="Google Shape;754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5" name="Google Shape;755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56" name="Google Shape;756;p23"/>
          <p:cNvGrpSpPr/>
          <p:nvPr/>
        </p:nvGrpSpPr>
        <p:grpSpPr>
          <a:xfrm>
            <a:off x="3712170" y="2572873"/>
            <a:ext cx="255300" cy="97427"/>
            <a:chOff x="1169632" y="4149135"/>
            <a:chExt cx="255300" cy="97427"/>
          </a:xfrm>
        </p:grpSpPr>
        <p:sp>
          <p:nvSpPr>
            <p:cNvPr id="757" name="Google Shape;757;p23"/>
            <p:cNvSpPr/>
            <p:nvPr/>
          </p:nvSpPr>
          <p:spPr>
            <a:xfrm>
              <a:off x="1250035" y="4149135"/>
              <a:ext cx="95100" cy="95100"/>
            </a:xfrm>
            <a:prstGeom prst="ellipse">
              <a:avLst/>
            </a:prstGeom>
            <a:solidFill>
              <a:srgbClr val="FFFFFF"/>
            </a:solidFill>
            <a:ln w="12700" cap="flat" cmpd="sng">
              <a:solidFill>
                <a:srgbClr val="BDBDB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8" name="Google Shape;758;p23"/>
            <p:cNvSpPr/>
            <p:nvPr/>
          </p:nvSpPr>
          <p:spPr>
            <a:xfrm>
              <a:off x="1169632" y="4151463"/>
              <a:ext cx="255300" cy="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57575"/>
                </a:buClr>
                <a:buFont typeface="Roboto"/>
                <a:buNone/>
              </a:pPr>
              <a:r>
                <a:rPr lang="ko" sz="600">
                  <a:solidFill>
                    <a:srgbClr val="757575"/>
                  </a:solidFill>
                  <a:latin typeface="Roboto"/>
                  <a:ea typeface="Roboto"/>
                  <a:cs typeface="Roboto"/>
                  <a:sym typeface="Roboto"/>
                </a:rPr>
                <a:t>9</a:t>
              </a:r>
              <a:endParaRPr sz="600" b="0" i="0" u="none" strike="noStrike" cap="non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1226</Words>
  <Application>Microsoft Office PowerPoint</Application>
  <PresentationFormat>화면 슬라이드 쇼(16:9)</PresentationFormat>
  <Paragraphs>328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Roboto</vt:lpstr>
      <vt:lpstr>Arial</vt:lpstr>
      <vt:lpstr>Simple Light</vt:lpstr>
      <vt:lpstr>프로세스 설계</vt:lpstr>
      <vt:lpstr>LGE Global chatbot Architecture</vt:lpstr>
      <vt:lpstr>2.1. Hello_intent (최초 진입시) 프로세스 (Web UI)</vt:lpstr>
      <vt:lpstr>2.2. Chat_intent (질의시) 프로세스 (Web UI)</vt:lpstr>
      <vt:lpstr>2.3. gpt_query(질의시) 프로세스 (Web UI)</vt:lpstr>
      <vt:lpstr>3.1. Hello_intent (최초 진입시) (WhatsApp, twilio, …)</vt:lpstr>
      <vt:lpstr>3.2. Chat_intent (질의시) 프로세스 (WhatsApp, twilio, …) – Dialogflow 호출</vt:lpstr>
      <vt:lpstr>3.3. Chat_intent (질의시) 프로세스 (WhatsApp, twilio, …) – GPT 연결</vt:lpstr>
      <vt:lpstr>1. whatsapp-zendesk live chat process</vt:lpstr>
      <vt:lpstr>4.3 상담원 채팅 이력 열람 프로세스 ( 이 부분은 저도 확인해봐야 할 것 같습니다. 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프로세스 설계</dc:title>
  <cp:lastModifiedBy>이현성</cp:lastModifiedBy>
  <cp:revision>53</cp:revision>
  <dcterms:modified xsi:type="dcterms:W3CDTF">2024-11-10T10:03:21Z</dcterms:modified>
</cp:coreProperties>
</file>